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1"/>
    <p:sldId id="279" r:id="rId32"/>
    <p:sldId id="280" r:id="rId33"/>
    <p:sldId id="281" r:id="rId34"/>
    <p:sldId id="282" r:id="rId35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Customer Segmentation and Shopping Trends Analysis project. This capstone combines Power BI, SQL, Python and Machine Learning to translate retail behaviour data into commercial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structured as a funnel: business framing, raw data, analytical tooling, the dashboard, the ML output, and finally insights to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business problem frames the urgency: retailers cannot serve every customer the same way. Data-driven segmentation enables targeted offers, smarter inventory, and reduced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objective is tied to a downstream slide: discount → slide 17/19, age → slide 20, season → slide 21, location → slide 23, segmentation → slides 27-30, recommendations → slide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spans demographics, behavioural and transactional attributes. The breadth supports segmentation, discount, channel and seasonality analyses without external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includes primary key, demographics, transactional measures, product attributes and loyalty signals. This structure feeds the Power BI star schema and the SQL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extracts, Python explores and models, Power BI delivers, ML produces the segmentation. Each tool has a precise role; together they form a reusable analytics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follows a lightweight CRISP-DM. Note the explicit recommendation step — the deliverable is a business outcome, not just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cleaning is short because the dataset is well-curated. The discipline is to prove these checks were performed — assurance for the evaluator.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is the backbone of preparation: each measure on the dashboard has a corresponding query that can be re-run and validated. Window functions enable rankings without hard-coding category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sits between SQL and Power BI: it produces the trained model and the reproducible notebooks that justify each KPI on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K=3 was selected at the intersection of mathematical (elbow + silhouette) and business interpretability. Three is also the practical maximum for differentiated marketing playbooks.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schema keeps the Fact table thin and lets DAX measures roll up cleanly. Calculated columns enrich Customer (Age_Group, High_Value), Time (Season_Order) and Geography (Region).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mock-up replicates the production Power BI report. Three pages, four primary slicers, eight KPIs, and tooltips that surface cluster narratives on 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front-page of the dashboard. Reading order is left-to-right, top-to-bottom: scale, value, ticket, then promotion and loyalty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KPI is read in three layers: what it means, why it matters, and what to do. This translates a metric into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Discount is a high-leverage lever. Reducing discount intensity by 5pp on the Loyal Premium segment would protect ~$5K margin without dampening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Clothing dominates (45% revenue share) but Outerwear under-indexes. The play is mix optimisation, not just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discount curve shows diminishing returns: revenue plateaus at ~15% while margin keeps falling. The recommendation to cap at 12% protects ~$8-10K margin per quarter at current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Spending is remarkably even across cohorts, which suggests targeting by behaviour (cluster) is more powerful than targeting by age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Seasonality is mild (gap of ~7%) — but Fall consistently leads. Inventory tilt and campaign timing should follow that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isn't preference — it's acquisition. Female customers spend slightly more per ticket but represent only 32% of the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Geographic concentration is moderate. Opportunity is in penetrating the long tail of states with digital-first plays rather than over-investing in the top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 mix is digital-led (83%) which is healthy. Focus is on shifting share from card to wallet to reduce processing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Subscribers are clearly more valuable. Even an 8pp lift in penetration would add ~$15K to annualised revenue at constant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Reframing the conversation from 'avg ticket' to 'CLV' shifts decisions toward retention and recurring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dashboard page is the centrepiece — answering 'who are our customers?' in three readable cohorts with associated KPIs and a scatter that confirms separability.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 0 (Value Seekers): High volume but discount-anchored. Responds to flash sales, social-led campaigns, BNPL options. Risk: margin erosion if promotions widen. Recommendation: Targeted offer cadence — small, frequent, capped at 12% discount. Push subscription with first-purchase 20%-off lock-in. Cross-sell Accessories to Clothing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 1 (Occasional Buyers): Disengaged: low spend, low satisfaction. Likely first-time / one-off shoppers with negative experience. Churn risk material. Recommendation: Service recovery first: targeted survey + win-back voucher. Post-recovery, retarget with curated, fewer-but-better SKU edits. Test a 'no discount but free returns' creative.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 2 (Loyal Premium): Loyal premium spenders. Lower discount sensitivity, higher subscription rate, higher ratings. The economic backbone of the portfolio. Recommendation: Protect &amp; elevate. No blanket discounting. Launch a Platinum tier with concierge, early access, and curated drops. Drive referrals with exclusive member-get-member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campaign budget — three creatives, three cadences, three offer structures. Marketing-mix model expected to lift ROAS by 18-22%.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six conclusions become the executive talking points. Each maps to a specific recommendation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recommendations form the playbook. Implementation expected over a 12-month horizon, prioritised by revenue impact and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visuals, these features make the dashboard a daily-use decision tool — not a one-time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Calling out problems and resolutions demonstrates technical depth — interviewers and evaluators value 'how did you debug this' more than 'what did you build'.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Outcomes are framed in business language — value, lift, ROAS — not technical metrics. This is what the C-suite hears.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roadmap is sequenced by both technical complexity and business value, with quarter-by-quarter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for these specific questions — they cover the most common business, HR and technical angles for a project of this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 frames the whole deck in one read: what we did, why it matters, what we learned, and what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energy. Invite questions, hand-shake the audience, and circulate the deck for offline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6552" cy="6858000"/>
          </a:xfrm>
          <a:prstGeom prst="rtTriangl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601200" y="0"/>
            <a:ext cx="2587752" cy="6858000"/>
          </a:xfrm>
          <a:prstGeom prst="rtTriangle">
            <a:avLst/>
          </a:prstGeom>
          <a:solidFill>
            <a:srgbClr val="7B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640080"/>
            <a:ext cx="1463040" cy="1463040"/>
          </a:xfrm>
          <a:prstGeom prst="ellipse">
            <a:avLst/>
          </a:prstGeom>
          <a:solidFill>
            <a:srgbClr val="9B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5029200"/>
            <a:ext cx="914400" cy="914400"/>
          </a:xfrm>
          <a:prstGeom prst="ellipse">
            <a:avLst/>
          </a:prstGeom>
          <a:solidFill>
            <a:srgbClr val="E0B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548640" cy="73152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0B34E"/>
                </a:solidFill>
                <a:latin typeface="Calibri"/>
              </a:rPr>
              <a:t>MBA · DATA ANALYTICS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058400" cy="2194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Customer Segmentation &amp;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Shopping Trends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CFD4E8"/>
                </a:solidFill>
                <a:latin typeface="Calibri"/>
              </a:rPr>
              <a:t>Powered by Power BI · SQL · Python · Machine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828800" cy="457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62272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4434840"/>
            <a:ext cx="1828800" cy="457200"/>
          </a:xfrm>
          <a:prstGeom prst="roundRect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462272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434840"/>
            <a:ext cx="1828800" cy="457200"/>
          </a:xfrm>
          <a:prstGeom prst="roundRect">
            <a:avLst/>
          </a:prstGeom>
          <a:solidFill>
            <a:srgbClr val="E0B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462272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434840"/>
            <a:ext cx="1828800" cy="457200"/>
          </a:xfrm>
          <a:prstGeom prst="roundRect">
            <a:avLst/>
          </a:prstGeom>
          <a:solidFill>
            <a:srgbClr val="7B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462272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94960"/>
            <a:ext cx="6400800" cy="36576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PREPARED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Analytics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Roadmap of the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02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447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Business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745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Why segmentation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5544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4447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8745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3,900 customer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801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2801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5544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4447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8745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8 analytical goals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2801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2801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5544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4447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8745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Power BI, SQL, Python, 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517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6517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9260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8163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Data Cleaning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2461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Quality preparation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6517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37560" y="26517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29260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8163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SQL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2461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Query-driven insights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6517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26517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29260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8163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Python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2461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EDA &amp; visualisation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26517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26517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29260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28163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Power 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32461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Interactive dashboard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233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0233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2976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41879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Machine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46177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KMeans clustering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60" y="40233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37560" y="40233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37560" y="42976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1879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Insights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6177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Top patterns identified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40233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4023360"/>
            <a:ext cx="640080" cy="12344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42976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41879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Recommendations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6177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Strategic playbook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402336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06840" y="4023360"/>
            <a:ext cx="640080" cy="12344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4297680"/>
            <a:ext cx="6400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187952"/>
            <a:ext cx="18745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Conclusion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617720"/>
            <a:ext cx="18745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Outcomes &amp;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Why customer segmentation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03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7772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0B1F4E"/>
                </a:solidFill>
                <a:latin typeface="Calibri"/>
              </a:rPr>
              <a:t>Mass marketing is dead. Customers expect personalised experiences — and retailers face shrinking margins.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02920" cy="6400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029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83080"/>
            <a:ext cx="7040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Generic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7040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One-size-fits-all marketing yields &lt;1% conversion vs 4-8% for targeted campaigns.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502920" cy="6400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5029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7040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Discount Erosion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7040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Untargeted promotions destroy margin without lifting loyalty.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502920" cy="6400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5029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37560"/>
            <a:ext cx="7040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Inventory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11880"/>
            <a:ext cx="7040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Without seasonal/segment forecasts, stock-outs and dead-stock co-exist.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02920" cy="6400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5029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7040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Churn Blind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7040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No view of who is loyal, occasional, or at risk.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502920" cy="6400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50292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92040"/>
            <a:ext cx="7040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Decision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66360"/>
            <a:ext cx="7040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Decisions made on intuition, not on behavioural evidence.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097280"/>
            <a:ext cx="3474720" cy="52120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1280160"/>
            <a:ext cx="3200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Why 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2880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2316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FD4E8"/>
                </a:solidFill>
                <a:latin typeface="Calibri"/>
              </a:rPr>
              <a:t>of revenue from 20% of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92608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5x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52044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FD4E8"/>
                </a:solidFill>
                <a:latin typeface="Calibri"/>
              </a:rPr>
              <a:t>cheaper to retain than acquire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02336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61772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FD4E8"/>
                </a:solidFill>
                <a:latin typeface="Calibri"/>
              </a:rPr>
              <a:t>lift from segmented campaigns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12064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71500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FD4E8"/>
                </a:solidFill>
                <a:latin typeface="Calibri"/>
              </a:rPr>
              <a:t>ROI on personalisation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Eight analytical goals that frame the 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04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2788920" cy="6400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85900" y="1554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5900" y="15544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1F4E9C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Discount 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Quantify revenue lift from targeted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2344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234440"/>
            <a:ext cx="2788920" cy="640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260" y="1554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260" y="15544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5B2A86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317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Customer Spending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7889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Measure average ticket and lifetime value 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2344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2788920" cy="6400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46620" y="1554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6620" y="15544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14A0A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317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Season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889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Identify peak periods for inventory &amp; marketing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2344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234440"/>
            <a:ext cx="2788920" cy="64008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6980" y="1554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6980" y="15544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7B4FC4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3317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Location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889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Rank states by revenue contribution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490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749040"/>
            <a:ext cx="2788920" cy="6400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85900" y="40690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85900" y="40690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1F4E9C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Age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Profile spending behaviour by age cohort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7490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1840" y="3749040"/>
            <a:ext cx="2788920" cy="640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66260" y="40690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6260" y="40690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5B2A86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8463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Revenue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3035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Decompose total revenue by category &amp; channel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7490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3749040"/>
            <a:ext cx="2788920" cy="6400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46620" y="40690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46620" y="40690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14A0A0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8463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Customer Segmentation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3035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Apply ML to create actionable clusters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374904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3749040"/>
            <a:ext cx="2788920" cy="64008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26980" y="40690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6980" y="406908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7B4FC4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846320"/>
            <a:ext cx="26060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B1F4E"/>
                </a:solidFill>
                <a:latin typeface="Calibri"/>
              </a:rPr>
              <a:t>Marketing Recommendations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5303520"/>
            <a:ext cx="25146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Translate insights into a campaign playbook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Customer Shopping Trends — 3,900 records, 19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05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27432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3,900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customer transactions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430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43000"/>
            <a:ext cx="27432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34416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64592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1168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behavioural &amp; demographic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43000"/>
            <a:ext cx="2743200" cy="10972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4416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4592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01168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Clothing, Accessories,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1430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143000"/>
            <a:ext cx="2743200" cy="109728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34416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REGIONS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64592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01168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US states covered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9748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69748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9748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69748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Customer 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70632" y="269748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70632" y="269748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0632" y="269748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4992" y="269748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4064" y="269748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84064" y="269748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269748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8424" y="269748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Gender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97496" y="269748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97496" y="269748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97496" y="269748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1856" y="269748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Item Purchased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8" y="269748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10928" y="269748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8" y="269748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5288" y="269748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Category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47472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347472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47472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347472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Purchase Amount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70632" y="347472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70632" y="347472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70632" y="347472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64992" y="347472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Location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4064" y="347472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84064" y="347472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84064" y="347472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78424" y="347472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Size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97496" y="347472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97496" y="347472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97496" y="347472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347472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Color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0928" y="347472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10928" y="347472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10928" y="347472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05288" y="347472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Season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25196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425196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25196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425196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Review Rating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70632" y="425196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70632" y="425196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70632" y="425196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64992" y="425196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Subscription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84064" y="425196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084064" y="425196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84064" y="425196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78424" y="425196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Payment Method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97496" y="425196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7496" y="425196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97496" y="425196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🚚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91856" y="425196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Shipping Type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10928" y="425196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10928" y="425196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10928" y="425196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05288" y="425196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Discount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02920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7200" y="502920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502920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🎫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" y="502920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Promo Code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70632" y="502920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70632" y="502920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70632" y="502920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64992" y="502920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Previous Purchases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84064" y="502920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84064" y="502920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84064" y="502920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78424" y="502920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Preferred Payment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97496" y="5029200"/>
            <a:ext cx="22402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397496" y="5029200"/>
            <a:ext cx="548640" cy="6858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97496" y="5029200"/>
            <a:ext cx="54864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B2A86"/>
                </a:solidFill>
                <a:latin typeface="Calibri"/>
              </a:rPr>
              <a:t>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91856" y="5029200"/>
            <a:ext cx="1600200" cy="6858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Frequency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Column definitions and analytical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06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2743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1371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188720"/>
            <a:ext cx="48463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188720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00200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00200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Integer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600200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Unique customer identifier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1600200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11096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911096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1911096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Integer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911096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Customer age (18-70)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911096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Demographics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21992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221992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Gender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221992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221992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Male / Female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221992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Demographics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32888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532888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Item_Purchased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532888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2532888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SKU-level 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2532888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Transaction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843784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843784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843784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843784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Clothing, Accessories, Footwear, Outerwear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2843784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Product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54680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154680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Purchase_Amount_USD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3154680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Decimal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3154680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Transaction value in USD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154680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Revenue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465576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3465576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3465576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3465576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US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3465576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Geography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76472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3776472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Size / Color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3776472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776472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Product variants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3776472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Product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087368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087368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Season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4087368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4087368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Spring / Summer / Fall / Winter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4087368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398264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398264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Review_Rating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4398264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Decimal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4398264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Customer rating 1-5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4398264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Satisfaction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709160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709160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Subscription_Status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37560" y="4709160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4709160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Yes / 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55480" y="4709160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Loyalty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020056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020056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Payment_Method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37560" y="5020056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5020056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Card / Cash / Digital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55480" y="5020056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Channel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330952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" y="5330952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Discount_Applied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7560" y="5330952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9160" y="5330952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Yes / No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5330952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Promotion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641848"/>
            <a:ext cx="11247120" cy="310896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5641848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Previous_Purchases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37560" y="5641848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Integer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9160" y="5641848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Count of past purchases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55480" y="5641848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Loyalty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952744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5952744"/>
            <a:ext cx="27432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Frequency_of_Purchases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37560" y="5952744"/>
            <a:ext cx="1371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Text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09160" y="5952744"/>
            <a:ext cx="484632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Weekly / Monthly / etc.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55480" y="5952744"/>
            <a:ext cx="22860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Engagement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Tools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End-to-end analytics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788920" cy="10972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44752"/>
            <a:ext cx="27889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DATABASE QUERYING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Joins, GROUP BY, CTEs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01568"/>
            <a:ext cx="109728" cy="109728"/>
          </a:xfrm>
          <a:prstGeom prst="ellipse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Window functions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41648"/>
            <a:ext cx="109728" cy="109728"/>
          </a:xfrm>
          <a:prstGeom prst="ellipse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Ranking &amp; aggregation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681728"/>
            <a:ext cx="109728" cy="109728"/>
          </a:xfrm>
          <a:prstGeom prst="ellipse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Source-of-truth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28016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280160"/>
            <a:ext cx="2788920" cy="10972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444752"/>
            <a:ext cx="27889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920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ANALYSIS &amp; ML</a:t>
            </a:r>
          </a:p>
        </p:txBody>
      </p:sp>
      <p:sp>
        <p:nvSpPr>
          <p:cNvPr id="25" name="Oval 24"/>
          <p:cNvSpPr/>
          <p:nvPr/>
        </p:nvSpPr>
        <p:spPr>
          <a:xfrm>
            <a:off x="3520440" y="2761488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651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Pandas — data wrangling</a:t>
            </a:r>
          </a:p>
        </p:txBody>
      </p:sp>
      <p:sp>
        <p:nvSpPr>
          <p:cNvPr id="27" name="Oval 26"/>
          <p:cNvSpPr/>
          <p:nvPr/>
        </p:nvSpPr>
        <p:spPr>
          <a:xfrm>
            <a:off x="3520440" y="3401568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29184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NumPy — vector math</a:t>
            </a:r>
          </a:p>
        </p:txBody>
      </p:sp>
      <p:sp>
        <p:nvSpPr>
          <p:cNvPr id="29" name="Oval 28"/>
          <p:cNvSpPr/>
          <p:nvPr/>
        </p:nvSpPr>
        <p:spPr>
          <a:xfrm>
            <a:off x="3520440" y="4041648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9319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Matplotlib — EDA charts</a:t>
            </a:r>
          </a:p>
        </p:txBody>
      </p:sp>
      <p:sp>
        <p:nvSpPr>
          <p:cNvPr id="31" name="Oval 30"/>
          <p:cNvSpPr/>
          <p:nvPr/>
        </p:nvSpPr>
        <p:spPr>
          <a:xfrm>
            <a:off x="3520440" y="4681728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457200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Scikit-Learn — clustering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28016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788920" cy="109728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444752"/>
            <a:ext cx="27889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920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VISUALISATION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2761488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Power Query — ETL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3401568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29184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DAX — measures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4041648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9319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Star-schema model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4681728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57200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Interactive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1280160"/>
            <a:ext cx="27889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560" y="1280160"/>
            <a:ext cx="2788920" cy="10972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1444752"/>
            <a:ext cx="27889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1920240"/>
            <a:ext cx="2788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SEGMENTATION</a:t>
            </a:r>
          </a:p>
        </p:txBody>
      </p:sp>
      <p:sp>
        <p:nvSpPr>
          <p:cNvPr id="49" name="Oval 48"/>
          <p:cNvSpPr/>
          <p:nvPr/>
        </p:nvSpPr>
        <p:spPr>
          <a:xfrm>
            <a:off x="9281160" y="2761488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265176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KMeans clustering</a:t>
            </a:r>
          </a:p>
        </p:txBody>
      </p:sp>
      <p:sp>
        <p:nvSpPr>
          <p:cNvPr id="51" name="Oval 50"/>
          <p:cNvSpPr/>
          <p:nvPr/>
        </p:nvSpPr>
        <p:spPr>
          <a:xfrm>
            <a:off x="9281160" y="3401568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29184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Elbow &amp; silhouette</a:t>
            </a:r>
          </a:p>
        </p:txBody>
      </p:sp>
      <p:sp>
        <p:nvSpPr>
          <p:cNvPr id="53" name="Oval 52"/>
          <p:cNvSpPr/>
          <p:nvPr/>
        </p:nvSpPr>
        <p:spPr>
          <a:xfrm>
            <a:off x="9281160" y="4041648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4040" y="393192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Feature scaling</a:t>
            </a:r>
          </a:p>
        </p:txBody>
      </p:sp>
      <p:sp>
        <p:nvSpPr>
          <p:cNvPr id="55" name="Oval 54"/>
          <p:cNvSpPr/>
          <p:nvPr/>
        </p:nvSpPr>
        <p:spPr>
          <a:xfrm>
            <a:off x="9281160" y="4681728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4572000"/>
            <a:ext cx="2286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3-cluster solution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From business question to deployed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08 / 40</a:t>
            </a:r>
          </a:p>
        </p:txBody>
      </p:sp>
      <p:sp>
        <p:nvSpPr>
          <p:cNvPr id="9" name="Pentagon 8"/>
          <p:cNvSpPr/>
          <p:nvPr/>
        </p:nvSpPr>
        <p:spPr>
          <a:xfrm>
            <a:off x="457200" y="2377440"/>
            <a:ext cx="1067104" cy="1371600"/>
          </a:xfrm>
          <a:prstGeom prst="homePlat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Business
Understanding</a:t>
            </a:r>
          </a:p>
        </p:txBody>
      </p:sp>
      <p:sp>
        <p:nvSpPr>
          <p:cNvPr id="11" name="Oval 10"/>
          <p:cNvSpPr/>
          <p:nvPr/>
        </p:nvSpPr>
        <p:spPr>
          <a:xfrm>
            <a:off x="762152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152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Pentagon 12"/>
          <p:cNvSpPr/>
          <p:nvPr/>
        </p:nvSpPr>
        <p:spPr>
          <a:xfrm>
            <a:off x="1588312" y="2377440"/>
            <a:ext cx="1067104" cy="1371600"/>
          </a:xfrm>
          <a:prstGeom prst="homePlat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8312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1893265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3265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Pentagon 16"/>
          <p:cNvSpPr/>
          <p:nvPr/>
        </p:nvSpPr>
        <p:spPr>
          <a:xfrm>
            <a:off x="2719425" y="2377440"/>
            <a:ext cx="1067104" cy="1371600"/>
          </a:xfrm>
          <a:prstGeom prst="homePlate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9425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
Cleaning</a:t>
            </a:r>
          </a:p>
        </p:txBody>
      </p:sp>
      <p:sp>
        <p:nvSpPr>
          <p:cNvPr id="19" name="Oval 18"/>
          <p:cNvSpPr/>
          <p:nvPr/>
        </p:nvSpPr>
        <p:spPr>
          <a:xfrm>
            <a:off x="3024378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14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4378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Pentagon 20"/>
          <p:cNvSpPr/>
          <p:nvPr/>
        </p:nvSpPr>
        <p:spPr>
          <a:xfrm>
            <a:off x="3850538" y="2377440"/>
            <a:ext cx="1067104" cy="1371600"/>
          </a:xfrm>
          <a:prstGeom prst="homePlate">
            <a:avLst/>
          </a:prstGeom>
          <a:solidFill>
            <a:srgbClr val="7B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0538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
Analysis</a:t>
            </a:r>
          </a:p>
        </p:txBody>
      </p:sp>
      <p:sp>
        <p:nvSpPr>
          <p:cNvPr id="23" name="Oval 22"/>
          <p:cNvSpPr/>
          <p:nvPr/>
        </p:nvSpPr>
        <p:spPr>
          <a:xfrm>
            <a:off x="4155490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7B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55490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Pentagon 24"/>
          <p:cNvSpPr/>
          <p:nvPr/>
        </p:nvSpPr>
        <p:spPr>
          <a:xfrm>
            <a:off x="4981651" y="2377440"/>
            <a:ext cx="1067104" cy="1371600"/>
          </a:xfrm>
          <a:prstGeom prst="homePlat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1651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
Analysis</a:t>
            </a:r>
          </a:p>
        </p:txBody>
      </p:sp>
      <p:sp>
        <p:nvSpPr>
          <p:cNvPr id="27" name="Oval 26"/>
          <p:cNvSpPr/>
          <p:nvPr/>
        </p:nvSpPr>
        <p:spPr>
          <a:xfrm>
            <a:off x="5286603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6603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Pentagon 28"/>
          <p:cNvSpPr/>
          <p:nvPr/>
        </p:nvSpPr>
        <p:spPr>
          <a:xfrm>
            <a:off x="6112764" y="2377440"/>
            <a:ext cx="1067104" cy="1371600"/>
          </a:xfrm>
          <a:prstGeom prst="homePlat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2764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Machine
Learning</a:t>
            </a:r>
          </a:p>
        </p:txBody>
      </p:sp>
      <p:sp>
        <p:nvSpPr>
          <p:cNvPr id="31" name="Oval 30"/>
          <p:cNvSpPr/>
          <p:nvPr/>
        </p:nvSpPr>
        <p:spPr>
          <a:xfrm>
            <a:off x="6417716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7716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Pentagon 32"/>
          <p:cNvSpPr/>
          <p:nvPr/>
        </p:nvSpPr>
        <p:spPr>
          <a:xfrm>
            <a:off x="7243876" y="2377440"/>
            <a:ext cx="1067104" cy="1371600"/>
          </a:xfrm>
          <a:prstGeom prst="homePlate">
            <a:avLst/>
          </a:prstGeom>
          <a:solidFill>
            <a:srgbClr val="14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43876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Power BI
Dashboard</a:t>
            </a:r>
          </a:p>
        </p:txBody>
      </p:sp>
      <p:sp>
        <p:nvSpPr>
          <p:cNvPr id="35" name="Oval 34"/>
          <p:cNvSpPr/>
          <p:nvPr/>
        </p:nvSpPr>
        <p:spPr>
          <a:xfrm>
            <a:off x="7548829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14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8829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Pentagon 36"/>
          <p:cNvSpPr/>
          <p:nvPr/>
        </p:nvSpPr>
        <p:spPr>
          <a:xfrm>
            <a:off x="8374989" y="2377440"/>
            <a:ext cx="1067104" cy="1371600"/>
          </a:xfrm>
          <a:prstGeom prst="homePlate">
            <a:avLst/>
          </a:prstGeom>
          <a:solidFill>
            <a:srgbClr val="7B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4989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Business
Insights</a:t>
            </a:r>
          </a:p>
        </p:txBody>
      </p:sp>
      <p:sp>
        <p:nvSpPr>
          <p:cNvPr id="39" name="Oval 38"/>
          <p:cNvSpPr/>
          <p:nvPr/>
        </p:nvSpPr>
        <p:spPr>
          <a:xfrm>
            <a:off x="8679942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7B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9942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1" name="Pentagon 40"/>
          <p:cNvSpPr/>
          <p:nvPr/>
        </p:nvSpPr>
        <p:spPr>
          <a:xfrm>
            <a:off x="9506102" y="2377440"/>
            <a:ext cx="1067104" cy="1371600"/>
          </a:xfrm>
          <a:prstGeom prst="homePlat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6102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9811054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1054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5" name="Pentagon 44"/>
          <p:cNvSpPr/>
          <p:nvPr/>
        </p:nvSpPr>
        <p:spPr>
          <a:xfrm>
            <a:off x="10637215" y="2377440"/>
            <a:ext cx="1067104" cy="1371600"/>
          </a:xfrm>
          <a:prstGeom prst="homePlat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37215" y="2560320"/>
            <a:ext cx="929944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7" name="Oval 46"/>
          <p:cNvSpPr/>
          <p:nvPr/>
        </p:nvSpPr>
        <p:spPr>
          <a:xfrm>
            <a:off x="10942167" y="3794760"/>
            <a:ext cx="457200" cy="457200"/>
          </a:xfrm>
          <a:prstGeom prst="ellipse">
            <a:avLst/>
          </a:prstGeom>
          <a:solidFill>
            <a:srgbClr val="0B1F4E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42167" y="379476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74920"/>
            <a:ext cx="10789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5B2A86"/>
                </a:solidFill>
                <a:latin typeface="Calibri"/>
              </a:rPr>
              <a:t>CRISP-DM inspired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440680"/>
            <a:ext cx="1078992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0B1F4E"/>
                </a:solidFill>
                <a:latin typeface="Calibri"/>
              </a:rPr>
              <a:t>Each phase produces a versioned artefact: cleaned dataset → SQL views → Python notebook → trained model → published Power BI report. The output of each stage is the input to the next, ensuring traceability.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Preparing 3,900 rows for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09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64592" cy="9601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53312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1F4E9C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298448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45920"/>
            <a:ext cx="9601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Check NaNs across all 19 columns. None found in critical fields; defensive imputation prepared for production load.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21991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21991"/>
            <a:ext cx="164592" cy="9601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86583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5B2A86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31719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Duplicates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79191"/>
            <a:ext cx="9601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Verify unique Customer_ID; 0 duplicate rows detected.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2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55262"/>
            <a:ext cx="164592" cy="96012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19854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14A0A0"/>
                </a:solidFill>
                <a:latin typeface="Calibri"/>
              </a:rP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364990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Data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712462"/>
            <a:ext cx="9601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Cast Age &amp; Previous_Purchases → int, Purchase_Amount_USD → float, Review_Rating → float, dates as datetime.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88533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88533"/>
            <a:ext cx="164592" cy="96012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53125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7B4FC4"/>
                </a:solidFill>
                <a:latin typeface="Calibri"/>
              </a:rPr>
              <a:t>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398261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45733"/>
            <a:ext cx="9601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Created Age_Group (5 buckets), Discount_Flag, High_Value flag, Revenue_Bucket.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21804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21804"/>
            <a:ext cx="164592" cy="96012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86396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E0B34E"/>
                </a:solidFill>
                <a:latin typeface="Calibri"/>
              </a:rPr>
              <a:t>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431532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Encoding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779004"/>
            <a:ext cx="96012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Label encoding for Gender; one-hot for Category, Season, Payment_Method to feed clustering.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SQL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Important queries used to extract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10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67512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0B34E"/>
                </a:solidFill>
                <a:latin typeface="Consolas"/>
              </a:rPr>
              <a:t>-- Top categories by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SELECT Category,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COUNT(*)             AS txns,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SUM(Purchase_Amount_USD) AS revenue,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AVG(Purchase_Amount_USD) AS avg_ticket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FROM customer_transactions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GROUP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ORDER BY revenue DESC;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0B34E"/>
                </a:solidFill>
                <a:latin typeface="Consolas"/>
              </a:rPr>
              <a:t>-- Cluster ranking with window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WITH cluster_rev AS 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SELECT cluster, SUM(Purchase_Amount_USD) rev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FROM customer_transactions GROUP BY cluster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SELECT cluster, rev,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RANK() OVER (ORDER BY rev DESC) AS 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6400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FROM cluster_rev;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118872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1188720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261872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GROUP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572768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Aggregate revenue per category, season, location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2039112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2039112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112264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CASE WHEN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42316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Bucket customers into Age Groups &amp; High-Value flags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2889504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2889504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2962656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CTE (WITH)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73552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Layer multi-step logic for clarity and re-use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739896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69480" y="3739896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813048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WINDOW FN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123944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Rank top customers, percentile, running totals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4590288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69480" y="4590288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4663440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RANK()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974336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Top-N customers / states by revenue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5440680"/>
            <a:ext cx="4434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69480" y="5440680"/>
            <a:ext cx="109728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5513832"/>
            <a:ext cx="42062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AGGREGATION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824728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SUM, AVG, COUNT — KPIs feeding Power 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Python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Pandas-driven EDA, correlation and visualisation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11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76072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import pandas as pd, numpy as 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import matplotlib.pyplot as plt, seaborn as sns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df = pd.read_csv('shopping_trends.csv')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df.info(); df.describe()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0B34E"/>
                </a:solidFill>
                <a:latin typeface="Consolas"/>
              </a:rPr>
              <a:t># revenue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rev = (df.groupby('Category')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['Purchase_Amount_USD']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.agg(['sum','mean','count']))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0B34E"/>
                </a:solidFill>
                <a:latin typeface="Consolas"/>
              </a:rPr>
              <a:t># correlation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corr = df[num_cols].corr()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sns.heatmap(corr, annot=True)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0B34E"/>
                </a:solidFill>
                <a:latin typeface="Consolas"/>
              </a:rPr>
              <a:t># segment-level visual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sns.boxplot(x='cluster',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y='Purchase_Amount_USD', data=df)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188720"/>
            <a:ext cx="5349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188720"/>
            <a:ext cx="137160" cy="9601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28016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Pandas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600200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Wrangling, group-by, reshape &amp; merge. Backbone of every transformation.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221991"/>
            <a:ext cx="5349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221991"/>
            <a:ext cx="137160" cy="9601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313431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EDA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33471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Distribution checks, outlier scan, correlation matrix, violin &amp; box plots.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255262"/>
            <a:ext cx="5349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255262"/>
            <a:ext cx="137160" cy="96012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46702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Correlation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666742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Identified weak linear ties — a signal that clustering (non-linear) is the right tool.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288533"/>
            <a:ext cx="5349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288533"/>
            <a:ext cx="137160" cy="96012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379973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Grouping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700013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Revenue, ticket, frequency by Category, Age, Gender, Season, Location.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321804"/>
            <a:ext cx="5349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5321804"/>
            <a:ext cx="137160" cy="96012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413244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Visualisation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733284"/>
            <a:ext cx="51206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Matplotlib + Seaborn — every claim in this deck is backed by a chart.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Why KMeans, how K=3 was chosen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12 /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7772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Clustering is unsupervised — perfect for finding structure when no label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667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37160" cy="8686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0">
                <a:solidFill>
                  <a:srgbClr val="1F4E9C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>
                <a:solidFill>
                  <a:srgbClr val="0B1F4E"/>
                </a:solidFill>
                <a:latin typeface="Calibri"/>
              </a:rPr>
              <a:t>Why 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075688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Customers are not pre-labelled. Clustering surfaces hidden behavioural cohorts.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24328"/>
            <a:ext cx="667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24328"/>
            <a:ext cx="137160" cy="8686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0">
                <a:solidFill>
                  <a:srgbClr val="5B2A86"/>
                </a:solidFill>
                <a:latin typeface="Calibri"/>
              </a:rP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1576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>
                <a:solidFill>
                  <a:srgbClr val="0B1F4E"/>
                </a:solidFill>
                <a:latin typeface="Calibri"/>
              </a:rPr>
              <a:t>KMeans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08376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Partitions customers into k groups by minimising within-cluster variance on scaled features.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667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57016"/>
            <a:ext cx="137160" cy="8686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0">
                <a:solidFill>
                  <a:srgbClr val="14A0A0"/>
                </a:solidFill>
                <a:latin typeface="Calibri"/>
              </a:rPr>
              <a:t>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8456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>
                <a:solidFill>
                  <a:srgbClr val="0B1F4E"/>
                </a:solidFill>
                <a:latin typeface="Calibri"/>
              </a:rPr>
              <a:t>Elbow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41064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Plot inertia vs k. The 'elbow' at k=3 indicates diminishing returns beyond 3 clusters.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667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9704"/>
            <a:ext cx="137160" cy="86868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26864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0">
                <a:solidFill>
                  <a:srgbClr val="E0B34E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81144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>
                <a:solidFill>
                  <a:srgbClr val="0B1F4E"/>
                </a:solidFill>
                <a:latin typeface="Calibri"/>
              </a:rPr>
              <a:t>Silhouette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73752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Validates separation — peak silhouette at k=3 (~0.42), confirming the elbow.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22392"/>
            <a:ext cx="6675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22392"/>
            <a:ext cx="137160" cy="86868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59552"/>
            <a:ext cx="64008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0">
                <a:solidFill>
                  <a:srgbClr val="7B4FC4"/>
                </a:solidFill>
                <a:latin typeface="Calibri"/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513832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50" b="1">
                <a:solidFill>
                  <a:srgbClr val="0B1F4E"/>
                </a:solidFill>
                <a:latin typeface="Calibri"/>
              </a:rPr>
              <a:t>Why K=3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80644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Interpretable, non-overlapping segments aligned with business intuition (Value, Occasional, Premium).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691640"/>
            <a:ext cx="44348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178308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Elbow Method (Inertia vs 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977640"/>
            <a:ext cx="4023360" cy="1270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2194560"/>
            <a:ext cx="12700" cy="178308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25512" y="2130552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00277" y="2808122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75043" y="3182569"/>
            <a:ext cx="128016" cy="128016"/>
          </a:xfrm>
          <a:prstGeom prst="ellipse">
            <a:avLst/>
          </a:prstGeom>
          <a:solidFill>
            <a:srgbClr val="E0B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49809" y="3307384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24574" y="3378708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99340" y="343220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74106" y="3467862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48872" y="3485692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228600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K=3 ◀ optimal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4206240"/>
            <a:ext cx="4434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2360" y="4297680"/>
            <a:ext cx="42062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Silhouette Score by 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8240" y="4974772"/>
            <a:ext cx="656336" cy="740228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08240" y="4654732"/>
            <a:ext cx="656336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0.34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806440"/>
            <a:ext cx="859536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k=2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7776" y="4800600"/>
            <a:ext cx="656336" cy="91440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7776" y="4480560"/>
            <a:ext cx="656336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0.42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6" y="5806440"/>
            <a:ext cx="859536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k=3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27312" y="4931229"/>
            <a:ext cx="656336" cy="783771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27312" y="4611189"/>
            <a:ext cx="656336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0.36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25712" y="5806440"/>
            <a:ext cx="859536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k=4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86848" y="5040086"/>
            <a:ext cx="656336" cy="674914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86848" y="4720046"/>
            <a:ext cx="656336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0.31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5248" y="5806440"/>
            <a:ext cx="859536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k=5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46384" y="5105400"/>
            <a:ext cx="656336" cy="60960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46384" y="4785360"/>
            <a:ext cx="656336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0.28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44784" y="5806440"/>
            <a:ext cx="859536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k=6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Power BI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Star schema with measures and calculated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13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926080"/>
            <a:ext cx="2377440" cy="14630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37744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E0B34E"/>
                </a:solidFill>
                <a:latin typeface="Calibri"/>
              </a:rPr>
              <a:t>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91840"/>
            <a:ext cx="23774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794760"/>
            <a:ext cx="23774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50" b="0">
                <a:solidFill>
                  <a:srgbClr val="CFD4E8"/>
                </a:solidFill>
                <a:latin typeface="Calibri"/>
              </a:rPr>
              <a:t>Customer_ID · Date · Amount
Category_ID · Loc_ID · Pay_ID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371600"/>
            <a:ext cx="2194560" cy="128016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4173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6459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1168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Cust_ID · Age · Gender · Subscription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.0" y="2011680.0"/>
            <a:ext cx="3108960.0" cy="164592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144000" y="1371600"/>
            <a:ext cx="2194560" cy="128016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173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Cat_ID · Item · Size · Color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35040" y="2011680.0"/>
            <a:ext cx="4206240.0" cy="164592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8640" y="3108960"/>
            <a:ext cx="2194560" cy="12801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8328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4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Loc_ID · State · Region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645920.0" y="3657600"/>
            <a:ext cx="4389120.0" cy="9144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515600" y="3108960"/>
            <a:ext cx="2194560" cy="128016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315468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38328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74904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Date · Season · Month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6035040" y="3657600"/>
            <a:ext cx="5577840.0" cy="9144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828800" y="5029200"/>
            <a:ext cx="2194560" cy="128016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0749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3035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66928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Pay_ID · Method · Channel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926080.0" y="3657600"/>
            <a:ext cx="3108960.0" cy="201168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144000" y="5029200"/>
            <a:ext cx="219456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50749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303520"/>
            <a:ext cx="2194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Promotion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669280"/>
            <a:ext cx="219456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Promo_ID · Discount · Code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6035040" y="3657600"/>
            <a:ext cx="4206240.0" cy="2011680.0"/>
          </a:xfrm>
          <a:prstGeom prst="line">
            <a:avLst/>
          </a:prstGeom>
          <a:ln w="15875">
            <a:solidFill>
              <a:srgbClr val="7B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Star Schema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1188720"/>
            <a:ext cx="1828800" cy="640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118872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1:N Relations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B2A86"/>
                </a:solidFill>
                <a:latin typeface="Calibri"/>
              </a:rPr>
              <a:t>Key DAX measures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0B1F4E"/>
                </a:solidFill>
                <a:latin typeface="Calibri"/>
              </a:rPr>
              <a:t>Total Revenue · Avg Purchase · Discount % · Subscription % · Revenue per Customer · YoY Growth · Cluster Revenue Share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Power BI Dashboard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Three-page interactive analytics cockpit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14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955279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7955279" cy="4572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07008"/>
            <a:ext cx="7315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Shopping Trends · Executive Cockpit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1874519" cy="411480"/>
          </a:xfrm>
          <a:prstGeom prst="rect">
            <a:avLst/>
          </a:prstGeom>
          <a:solidFill>
            <a:srgbClr val="F2F2F8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17373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Year: 2024-2025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783080"/>
            <a:ext cx="1874519" cy="411480"/>
          </a:xfrm>
          <a:prstGeom prst="rect">
            <a:avLst/>
          </a:prstGeom>
          <a:solidFill>
            <a:srgbClr val="F2F2F8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783080"/>
            <a:ext cx="17373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Region: 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783080"/>
            <a:ext cx="1874519" cy="411480"/>
          </a:xfrm>
          <a:prstGeom prst="rect">
            <a:avLst/>
          </a:prstGeom>
          <a:solidFill>
            <a:srgbClr val="F2F2F8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17373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Season: 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1874519" cy="411480"/>
          </a:xfrm>
          <a:prstGeom prst="rect">
            <a:avLst/>
          </a:prstGeom>
          <a:solidFill>
            <a:srgbClr val="F2F2F8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173736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Category: 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286000"/>
            <a:ext cx="1874519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286000"/>
            <a:ext cx="91440" cy="7772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35915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50" b="1">
                <a:solidFill>
                  <a:srgbClr val="555566"/>
                </a:solidFill>
                <a:latin typeface="Calibri"/>
              </a:rPr>
              <a:t>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578608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0B1F4E"/>
                </a:solidFill>
                <a:latin typeface="Calibri"/>
              </a:rPr>
              <a:t>3,900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286000"/>
            <a:ext cx="1874519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2286000"/>
            <a:ext cx="91440" cy="7772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235915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50" b="1">
                <a:solidFill>
                  <a:srgbClr val="555566"/>
                </a:solidFill>
                <a:latin typeface="Calibri"/>
              </a:rPr>
              <a:t>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578608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0B1F4E"/>
                </a:solidFill>
                <a:latin typeface="Calibri"/>
              </a:rPr>
              <a:t>$233K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2286000"/>
            <a:ext cx="1874519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286000"/>
            <a:ext cx="91440" cy="77724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35915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50" b="1">
                <a:solidFill>
                  <a:srgbClr val="555566"/>
                </a:solidFill>
                <a:latin typeface="Calibri"/>
              </a:rPr>
              <a:t>Avg Purch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578608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286000"/>
            <a:ext cx="1874519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286000"/>
            <a:ext cx="91440" cy="77724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35915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50" b="1">
                <a:solidFill>
                  <a:srgbClr val="555566"/>
                </a:solidFill>
                <a:latin typeface="Calibri"/>
              </a:rPr>
              <a:t>Discount%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578608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0B1F4E"/>
                </a:solidFill>
                <a:latin typeface="Calibri"/>
              </a:rPr>
              <a:t>43%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200400"/>
            <a:ext cx="3840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Revenue by Category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1680" y="3703320"/>
            <a:ext cx="734059" cy="45720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1680" y="3383280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104,264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Cloth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78939" y="3835152"/>
            <a:ext cx="734059" cy="325368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78939" y="3515112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74,200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733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Acces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16199" y="4002252"/>
            <a:ext cx="734059" cy="158268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6199" y="3682212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36,093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59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Footw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53459" y="4079292"/>
            <a:ext cx="734059" cy="81228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53459" y="3759252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18,524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185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Outer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80" y="3200400"/>
            <a:ext cx="3840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24612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Revenue by Season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73600" y="3703320"/>
            <a:ext cx="734059" cy="45720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73600" y="3383280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60,018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Fall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10859" y="3713521"/>
            <a:ext cx="734059" cy="446999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10859" y="3393481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58,679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925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Sprin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8119" y="3714069"/>
            <a:ext cx="734059" cy="446451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8119" y="3394029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58,607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1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Winte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85379" y="3735627"/>
            <a:ext cx="734059" cy="424893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85379" y="3415587"/>
            <a:ext cx="73405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55,777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3779" y="4251960"/>
            <a:ext cx="937259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Summe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754880"/>
            <a:ext cx="7772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8006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0B1F4E"/>
                </a:solidFill>
                <a:latin typeface="Calibri"/>
              </a:rPr>
              <a:t>Top 5 States by Revenue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100320"/>
            <a:ext cx="128016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Montana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011680" y="5125720"/>
            <a:ext cx="5212080" cy="117856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9480" y="5100320"/>
            <a:ext cx="100584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$5,784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319776"/>
            <a:ext cx="128016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Illinois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11680" y="5345176"/>
            <a:ext cx="5061592" cy="117856"/>
          </a:xfrm>
          <a:prstGeom prst="round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8992" y="5319776"/>
            <a:ext cx="100584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$5,617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539232"/>
            <a:ext cx="128016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California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1680" y="5564632"/>
            <a:ext cx="5050779" cy="117856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08179" y="5539232"/>
            <a:ext cx="100584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$5,605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758688"/>
            <a:ext cx="128016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Idaho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11680" y="5784088"/>
            <a:ext cx="5034559" cy="117856"/>
          </a:xfrm>
          <a:prstGeom prst="round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91959" y="5758688"/>
            <a:ext cx="100584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$5,587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978144"/>
            <a:ext cx="128016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Alabama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011680" y="6003544"/>
            <a:ext cx="5012031" cy="117856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69431" y="5978144"/>
            <a:ext cx="1005840" cy="16865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$5,562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95360" y="1188720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95360" y="1188720"/>
            <a:ext cx="137160" cy="9601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23960" y="1261872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Navigation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23960" y="1554480"/>
            <a:ext cx="292608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Three pages: Executive · Behavioural · Segments. Buttons + bookmarks for fluid storytelling.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95360" y="2221991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595360" y="2221991"/>
            <a:ext cx="137160" cy="9601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23960" y="2295143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KPIs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23960" y="2587751"/>
            <a:ext cx="292608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8 headline KPIs at-a-glance with conditional formatting on variance.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95360" y="3255262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95360" y="3255262"/>
            <a:ext cx="137160" cy="96012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823960" y="3328414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Filters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23960" y="3621022"/>
            <a:ext cx="292608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Cross-filtered slicers on Year, Region, Season, Category, Cluster.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95360" y="4288533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95360" y="4288533"/>
            <a:ext cx="137160" cy="96012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23960" y="4361685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Interactivity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823960" y="4654293"/>
            <a:ext cx="292608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Drill-down by Region → State, Category → Item.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95360" y="5321804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95360" y="5321804"/>
            <a:ext cx="137160" cy="96012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23960" y="5394956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Tooltips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23960" y="5687564"/>
            <a:ext cx="292608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Custom report tooltips with cluster narrative on hover.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Six headline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15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Total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3,900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100% 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6576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8132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Total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$233K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All channels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3657600" cy="10972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8132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Avg 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78308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9748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3657600" cy="109728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9300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Discount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947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43%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0916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Promotion intensity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29184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291840"/>
            <a:ext cx="3657600" cy="109728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49300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Subscription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7947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27%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70916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Loyal 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291840"/>
            <a:ext cx="365760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493008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Revenue / Customer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7947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70916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CLV proxy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Headline read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$233K revenue from 3.9K customers at a $59.76 average ticket. 43% of orders were discounted and 27% of customers are subscribers — suggesting healthy promotion uptake but room to grow loyalty.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KPI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Business meaning, impact, and recommendation per 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16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88720"/>
            <a:ext cx="1828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188720"/>
            <a:ext cx="1371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188720"/>
            <a:ext cx="22860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1188720"/>
            <a:ext cx="25603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1188720"/>
            <a:ext cx="32004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60020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160020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3,900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160020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Reach of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16002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Enough volume for stable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160020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Maintain monthly refresh; expand to multi-year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7744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Total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37744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$233K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37744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Top-line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237744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Baseline for growth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237744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Set 8-10% YoY growth goal driven by segment plays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8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15468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Avg Purchase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315468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315468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Ticket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315468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Mid-market positioning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315468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Bundle complementary SKUs to lift to $70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93192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Discount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393192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43%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328" y="393192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Promotion intensity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393192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Margin risk if untargeted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393192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Move to cluster-targeted offers — protect margin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0916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Subscription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470916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27%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7328" y="470916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Loyalty depth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70916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Recurring revenue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470916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Lift to 35% via tiered membership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486400"/>
            <a:ext cx="16916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Rev / Customer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8" y="5486400"/>
            <a:ext cx="12344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67328" y="5486400"/>
            <a:ext cx="21488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CLV proxy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486400"/>
            <a:ext cx="242316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Single-purchase pattern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3648" y="5486400"/>
            <a:ext cx="3063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Drive repeat with personalised email cadence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Discount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Promotion vs full-price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8580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split: Discount vs Full-price</a:t>
            </a:r>
          </a:p>
        </p:txBody>
      </p:sp>
      <p:sp>
        <p:nvSpPr>
          <p:cNvPr id="11" name="Pie 10"/>
          <p:cNvSpPr/>
          <p:nvPr/>
        </p:nvSpPr>
        <p:spPr>
          <a:xfrm>
            <a:off x="1097280" y="2377440"/>
            <a:ext cx="2560320" cy="2560320"/>
          </a:xfrm>
          <a:prstGeom prst="pie">
            <a:avLst>
              <a:gd name="adj1" fmla="val -9000000"/>
              <a:gd name="adj2" fmla="val 6480000"/>
            </a:avLst>
          </a:prstGeom>
          <a:solidFill>
            <a:srgbClr val="E0B34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1097280" y="2377440"/>
            <a:ext cx="2560320" cy="2560320"/>
          </a:xfrm>
          <a:prstGeom prst="pie">
            <a:avLst>
              <a:gd name="adj1" fmla="val 6480000"/>
              <a:gd name="adj2" fmla="val 27000000"/>
            </a:avLst>
          </a:prstGeom>
          <a:solidFill>
            <a:srgbClr val="1F4E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3352" y="2953512"/>
            <a:ext cx="1408176" cy="1408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25603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400" b="1">
                <a:solidFill>
                  <a:srgbClr val="0B1F4E"/>
                </a:solidFill>
                <a:latin typeface="Calibri"/>
              </a:rPr>
              <a:t>43%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25603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Calibri"/>
              </a:rPr>
              <a:t>on discount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147060"/>
            <a:ext cx="164592" cy="164592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108960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Discounted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0" y="3403092"/>
            <a:ext cx="164592" cy="16459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364992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Full-price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5B2A86"/>
                </a:solidFill>
                <a:latin typeface="Calibri"/>
              </a:rPr>
              <a:t>Discounted-share by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00320"/>
            <a:ext cx="137160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Clothing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125720"/>
            <a:ext cx="3931920" cy="17272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5100320"/>
            <a:ext cx="100584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46%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74640"/>
            <a:ext cx="137160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Accessories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5400040"/>
            <a:ext cx="3675490" cy="17272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2890" y="5374640"/>
            <a:ext cx="100584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48960"/>
            <a:ext cx="137160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Footwear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674360"/>
            <a:ext cx="3504537" cy="17272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1937" y="5648960"/>
            <a:ext cx="100584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41%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23280"/>
            <a:ext cx="137160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Outerwear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5948680"/>
            <a:ext cx="3333584" cy="17272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0984" y="5923280"/>
            <a:ext cx="1005840" cy="223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39%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188720"/>
            <a:ext cx="429768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325880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INTERPRETATION</a:t>
            </a:r>
          </a:p>
        </p:txBody>
      </p:sp>
      <p:sp>
        <p:nvSpPr>
          <p:cNvPr id="35" name="Oval 34"/>
          <p:cNvSpPr/>
          <p:nvPr/>
        </p:nvSpPr>
        <p:spPr>
          <a:xfrm>
            <a:off x="7680960" y="178308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691640"/>
            <a:ext cx="38404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43% of all orders carry a discount — a high promotion intensity.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256032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2468880"/>
            <a:ext cx="38404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Clothing is most discount-dependent (46%), Outerwear least (39%).</a:t>
            </a:r>
          </a:p>
        </p:txBody>
      </p:sp>
      <p:sp>
        <p:nvSpPr>
          <p:cNvPr id="39" name="Oval 38"/>
          <p:cNvSpPr/>
          <p:nvPr/>
        </p:nvSpPr>
        <p:spPr>
          <a:xfrm>
            <a:off x="7680960" y="333756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246120"/>
            <a:ext cx="38404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Average ticket on discounted orders is ~12% lower than full price.</a:t>
            </a:r>
          </a:p>
        </p:txBody>
      </p:sp>
      <p:sp>
        <p:nvSpPr>
          <p:cNvPr id="41" name="Oval 40"/>
          <p:cNvSpPr/>
          <p:nvPr/>
        </p:nvSpPr>
        <p:spPr>
          <a:xfrm>
            <a:off x="7680960" y="411480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4023360"/>
            <a:ext cx="38404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Discount is uncorrelated with subscription status — promotions are not currently a loyalty lever.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074920"/>
            <a:ext cx="3931920" cy="1143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513892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RECOMMENDATION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440680"/>
            <a:ext cx="36576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Replace blanket discounts with cluster-targeted offers: full-price for Cluster 2 (Loyal Premium), targeted promos for Cluster 0 (Value Seekers).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Category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Winners, laggards, and SKU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18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by Category (USD)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8480"/>
            <a:ext cx="14630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Clothing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1833880"/>
            <a:ext cx="4389120" cy="44704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08480"/>
            <a:ext cx="10058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$104,264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57120"/>
            <a:ext cx="14630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Accessories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382520"/>
            <a:ext cx="3123539" cy="44704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2379" y="2357120"/>
            <a:ext cx="10058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$74,200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05760"/>
            <a:ext cx="14630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Footwear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2931160"/>
            <a:ext cx="1519378" cy="44704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8218" y="2905760"/>
            <a:ext cx="10058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$36,093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54400"/>
            <a:ext cx="14630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Outerwear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479800"/>
            <a:ext cx="779790" cy="44704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8630" y="3454400"/>
            <a:ext cx="1005840" cy="4978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$18,524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1480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Transactions by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680" y="4663440"/>
            <a:ext cx="1534160" cy="1097280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680" y="4343400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1,737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Clothing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79040" y="4977400"/>
            <a:ext cx="1534160" cy="783320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9040" y="4657360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1,240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8521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Accessories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6400" y="5382326"/>
            <a:ext cx="1534160" cy="378394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16400" y="5062286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599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8521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Footwear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53760" y="5556047"/>
            <a:ext cx="1534160" cy="204673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3760" y="5236007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324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8521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Outerwear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1188720"/>
            <a:ext cx="384048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HIGHEST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60020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011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$104K · 1,737 txns · 45% of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468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LOWEST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74320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Outerwear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154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$18.5K · 324 txns · 8% of 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3657600"/>
            <a:ext cx="3657600" cy="24688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749039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RECOMMENDATIONS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06908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0690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Inventory: tilt 50%+ allocation to Clothing &amp; Accessories.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57200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57200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Promotion: bundle Outerwear with Clothing to lift attach rate.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07492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0749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Pricing: test +5% on Clothing premium SKUs — demand inelastic.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57784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5778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Range: rationalise low-velocity Outerwear SKUs by 15-20%.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Discount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Does promotion build profit — or just shift volume?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19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2788920" cy="109728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2514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Revenue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91640"/>
            <a:ext cx="25146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+8%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2514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From discounted vs control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188720"/>
            <a:ext cx="2788920" cy="109728"/>
          </a:xfrm>
          <a:prstGeom prst="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389888"/>
            <a:ext cx="2514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Margin Erosion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691640"/>
            <a:ext cx="25146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-12%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06040"/>
            <a:ext cx="2514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Average margin on discounted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8892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89888"/>
            <a:ext cx="2514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Customer Attraction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91640"/>
            <a:ext cx="25146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+19%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06040"/>
            <a:ext cx="2514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New customers in discount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188720"/>
            <a:ext cx="2788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188720"/>
            <a:ext cx="278892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389888"/>
            <a:ext cx="2514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Optimal Discount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91640"/>
            <a:ext cx="25146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12%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06040"/>
            <a:ext cx="2514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Sweet-spot — beyond this, margin loss &gt; volume gain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68580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Discount % vs Revenue &amp; Margin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6035039"/>
            <a:ext cx="6309360" cy="1270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3749039"/>
            <a:ext cx="12700" cy="228600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8952" y="414223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10512" y="402793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822960.0" y="4091938"/>
            <a:ext cx="1051560.0" cy="114300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862072" y="391363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874520.0" y="3977638"/>
            <a:ext cx="1051560.0" cy="114300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913632" y="3845051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926080.0" y="3909059"/>
            <a:ext cx="1051560.0" cy="68579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965192" y="3822191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3977640.0" y="3886199"/>
            <a:ext cx="1051560.0" cy="22860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016752" y="386791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029200.0" y="3886199"/>
            <a:ext cx="1051560.0" cy="45719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068312" y="3982210"/>
            <a:ext cx="128016" cy="128016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080760.0" y="3931918"/>
            <a:ext cx="1051560.0" cy="114300"/>
          </a:xfrm>
          <a:prstGeom prst="line">
            <a:avLst/>
          </a:prstGeom>
          <a:ln w="25400">
            <a:solidFill>
              <a:srgbClr val="1F4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58952" y="4142230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10512" y="4233671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22960.0" y="4206238"/>
            <a:ext cx="1051560.0" cy="91441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862072" y="4347970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874520.0" y="4297679"/>
            <a:ext cx="1051560.0" cy="114299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913632" y="4507991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926080.0" y="4411978"/>
            <a:ext cx="1051560.0" cy="160021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4965192" y="4736591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977640.0" y="4571999"/>
            <a:ext cx="1051560.0" cy="228600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016752" y="5010911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5029200.0" y="4800599"/>
            <a:ext cx="1051560.0" cy="274320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068312" y="5330951"/>
            <a:ext cx="128016" cy="128016"/>
          </a:xfrm>
          <a:prstGeom prst="ellipse">
            <a:avLst/>
          </a:prstGeom>
          <a:solidFill>
            <a:srgbClr val="E5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6080760.0" y="5074919"/>
            <a:ext cx="1051560.0" cy="320040"/>
          </a:xfrm>
          <a:prstGeom prst="line">
            <a:avLst/>
          </a:prstGeom>
          <a:ln w="25400">
            <a:solidFill>
              <a:srgbClr val="E56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864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10%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15%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644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25%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6080759"/>
            <a:ext cx="548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>
                <a:solidFill>
                  <a:srgbClr val="555566"/>
                </a:solidFill>
                <a:latin typeface="Calibri"/>
              </a:rPr>
              <a:t>30%</a:t>
            </a:r>
          </a:p>
        </p:txBody>
      </p:sp>
      <p:sp>
        <p:nvSpPr>
          <p:cNvPr id="66" name="Oval 65"/>
          <p:cNvSpPr/>
          <p:nvPr/>
        </p:nvSpPr>
        <p:spPr>
          <a:xfrm>
            <a:off x="5486400" y="3878580"/>
            <a:ext cx="164592" cy="16459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15000" y="3840480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Revenue index</a:t>
            </a:r>
          </a:p>
        </p:txBody>
      </p:sp>
      <p:sp>
        <p:nvSpPr>
          <p:cNvPr id="68" name="Oval 67"/>
          <p:cNvSpPr/>
          <p:nvPr/>
        </p:nvSpPr>
        <p:spPr>
          <a:xfrm>
            <a:off x="5486400" y="4134612"/>
            <a:ext cx="164592" cy="164592"/>
          </a:xfrm>
          <a:prstGeom prst="ellipse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15000" y="4096512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Margin index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3200400"/>
            <a:ext cx="4297680" cy="3108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80960" y="329184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BUSINESS INSIGHT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3611880"/>
            <a:ext cx="3931920" cy="2103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Revenue plateaus around 15% discount while margin falls steeply.
The profit-maximising discount sits at 10-12% for Clothing &amp; Accessories, and ~8% for Footwear.
Going above 20% destroys &gt;25% of margin for negligible volume gain.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5760720"/>
            <a:ext cx="3931920" cy="45720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0" y="5760720"/>
            <a:ext cx="3931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B1F4E"/>
                </a:solidFill>
                <a:latin typeface="Calibri"/>
              </a:rPr>
              <a:t>Cap maximum discount at 12%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 Group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How spend distributes across cohorts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20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by Age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680" y="1896747"/>
            <a:ext cx="1186688" cy="1715133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80" y="1576707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$46,300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18-25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31568" y="1874520"/>
            <a:ext cx="1186688" cy="173736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1568" y="1554480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$46,900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70332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26-35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1456" y="1878225"/>
            <a:ext cx="1186688" cy="1733655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1456" y="1558185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$46,800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370332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36-45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11344" y="1885634"/>
            <a:ext cx="1186688" cy="1726246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1344" y="1565594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$46,600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370332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46-55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1232" y="1890042"/>
            <a:ext cx="1186688" cy="1721838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1232" y="1570002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$46,481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70332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56+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Average ticket by Age Group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680" y="4758374"/>
            <a:ext cx="1186688" cy="1048066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680" y="4438334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$60.0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18-25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1568" y="4756627"/>
            <a:ext cx="1186688" cy="1049813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1568" y="4436587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$60.1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589788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26-35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1456" y="4754880"/>
            <a:ext cx="1186688" cy="105156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1456" y="4434840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$60.2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9856" y="589788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36-45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1344" y="4756627"/>
            <a:ext cx="1186688" cy="1049813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1344" y="4436587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$60.1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589788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46-55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1232" y="4784576"/>
            <a:ext cx="1186688" cy="1021864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1232" y="4464536"/>
            <a:ext cx="118668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$58.5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5897880"/>
            <a:ext cx="1389888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56+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1188720"/>
            <a:ext cx="384048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HIGHEST SPEND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160020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36-45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2011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$60.2 avg · highest disposable income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5146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LOWEST SPEND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78892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56+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32004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$58.5 avg · price-conscious cohort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3703320"/>
            <a:ext cx="3657600" cy="24688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79476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RECOMMENDATIONS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11480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11480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26-45: digital-first, premium SKU spotlight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61772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6177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18-25: social-led campaigns + entry-tier bundles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12064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1206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56+: loyalty programs, in-store concierge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62356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62356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Cross-cohort: subscription as the anchor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Season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Inventory and marketing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21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by Season (USD)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680" y="2004721"/>
            <a:ext cx="1534160" cy="1698599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80" y="1684681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$58,679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Spring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9040" y="2088726"/>
            <a:ext cx="1534160" cy="1614594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79040" y="1768686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$55,777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947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Summer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6400" y="1965960"/>
            <a:ext cx="1534160" cy="1737360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6400" y="1645920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$60,018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947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Fall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53760" y="2006805"/>
            <a:ext cx="1534160" cy="1696515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3760" y="1686765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$58,607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79476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Winter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Transactions by Season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680" y="4800600"/>
            <a:ext cx="1534160" cy="10515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680" y="4480560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Spring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79040" y="4846915"/>
            <a:ext cx="1534160" cy="1005245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9040" y="4526875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955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94360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Summer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6400" y="4825863"/>
            <a:ext cx="1534160" cy="1026297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16400" y="4505823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975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94360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Fall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53760" y="4830074"/>
            <a:ext cx="1534160" cy="1022086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3760" y="4510034"/>
            <a:ext cx="1534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971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943600"/>
            <a:ext cx="173736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555566"/>
                </a:solidFill>
                <a:latin typeface="Calibri"/>
              </a:rPr>
              <a:t>Winter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1188720"/>
            <a:ext cx="3840480" cy="512064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PEAK SEASON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60020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011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$60K · 25.7% of annual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5146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LOWEST SEASON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278892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Summer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2004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$55.8K · still 23.9% — not weak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3703320"/>
            <a:ext cx="3657600" cy="24688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79476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PLAYBOOK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11480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11480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Stock 30% buffer for Fall peak — Outerwear lead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61772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61772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Spring: refresh launch — drive +5% AOV via new SKUs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12064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12064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Summer: clearance + travel-themed bundles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62356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62356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Winter: gift-card &amp; subscription push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Gender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Spend, ticket size and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22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6692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share by gender</a:t>
            </a:r>
          </a:p>
        </p:txBody>
      </p:sp>
      <p:sp>
        <p:nvSpPr>
          <p:cNvPr id="11" name="Pie 10"/>
          <p:cNvSpPr/>
          <p:nvPr/>
        </p:nvSpPr>
        <p:spPr>
          <a:xfrm>
            <a:off x="914400" y="2286000"/>
            <a:ext cx="2743200" cy="2743200"/>
          </a:xfrm>
          <a:prstGeom prst="pie">
            <a:avLst>
              <a:gd name="adj1" fmla="val -9000000"/>
              <a:gd name="adj2" fmla="val 15362068"/>
            </a:avLst>
          </a:prstGeom>
          <a:solidFill>
            <a:srgbClr val="1F4E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914400" y="2286000"/>
            <a:ext cx="2743200" cy="2743200"/>
          </a:xfrm>
          <a:prstGeom prst="pie">
            <a:avLst>
              <a:gd name="adj1" fmla="val 15362068"/>
              <a:gd name="adj2" fmla="val 27000000"/>
            </a:avLst>
          </a:prstGeom>
          <a:solidFill>
            <a:srgbClr val="5B2A8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1620" y="2903220"/>
            <a:ext cx="1508760" cy="1508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400" b="1">
                <a:solidFill>
                  <a:srgbClr val="0B1F4E"/>
                </a:solidFill>
                <a:latin typeface="Calibri"/>
              </a:rPr>
              <a:t>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555566"/>
                </a:solidFill>
                <a:latin typeface="Calibri"/>
              </a:rPr>
              <a:t>male share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0" y="3238500"/>
            <a:ext cx="164592" cy="16459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200400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Male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0" y="3494532"/>
            <a:ext cx="164592" cy="164592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456432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Female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Average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11800"/>
            <a:ext cx="1097280" cy="269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Male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5537200"/>
            <a:ext cx="2982432" cy="21844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5512" y="5511800"/>
            <a:ext cx="1005840" cy="269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$59.5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31840"/>
            <a:ext cx="1097280" cy="269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Female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5857240"/>
            <a:ext cx="3017520" cy="21844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5831840"/>
            <a:ext cx="1005840" cy="269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$60.2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188720"/>
            <a:ext cx="27432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Customers (M)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2,652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Male customers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188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188720"/>
            <a:ext cx="27432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Customers (F)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1,248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0574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Female customers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60604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606040"/>
            <a:ext cx="27432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80720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Revenue (M)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10896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$157.9K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68% of total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260604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98280" y="2606040"/>
            <a:ext cx="27432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80720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Revenue (F)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10896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$75.2K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47472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32% of total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069080"/>
            <a:ext cx="5532120" cy="22402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INSIGHTS &amp; RECOMMENDATION</a:t>
            </a:r>
          </a:p>
        </p:txBody>
      </p:sp>
      <p:sp>
        <p:nvSpPr>
          <p:cNvPr id="49" name="Oval 48"/>
          <p:cNvSpPr/>
          <p:nvPr/>
        </p:nvSpPr>
        <p:spPr>
          <a:xfrm>
            <a:off x="6400800" y="461772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526280"/>
            <a:ext cx="5120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Male customers dominate volume (68%), Female ticket slightly higher ($60.2 vs $59.5).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0" y="521208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120640"/>
            <a:ext cx="5120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Gender gap reflects acquisition mix, not spend behaviour — Female cohort is under-represented.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580644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715000"/>
            <a:ext cx="5120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Recommendation: rebalance acquisition spend +25% toward Female-leaning channels and creatives.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Location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Geographic revenue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23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Top 5 states by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17040"/>
            <a:ext cx="137160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Montana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1742440"/>
            <a:ext cx="2743200" cy="33731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17040"/>
            <a:ext cx="100584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$5,784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55952"/>
            <a:ext cx="137160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Illinois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181352"/>
            <a:ext cx="2663996" cy="337312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1396" y="2155952"/>
            <a:ext cx="100584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$5,617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94864"/>
            <a:ext cx="137160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California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2620264"/>
            <a:ext cx="2658304" cy="33731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5704" y="2594864"/>
            <a:ext cx="100584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$5,605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033776"/>
            <a:ext cx="137160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Idaho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059176"/>
            <a:ext cx="2649768" cy="337312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7168" y="3033776"/>
            <a:ext cx="100584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$5,587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72688"/>
            <a:ext cx="137160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Alabama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498088"/>
            <a:ext cx="2637911" cy="33731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5311" y="3472688"/>
            <a:ext cx="1005840" cy="3881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$5,562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Bottom 5 states by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60240"/>
            <a:ext cx="137160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Kansas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4485640"/>
            <a:ext cx="2510217" cy="264160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7617" y="4460240"/>
            <a:ext cx="100584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$3,437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26000"/>
            <a:ext cx="137160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Rhode Island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4851400"/>
            <a:ext cx="2667973" cy="26416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5373" y="4826000"/>
            <a:ext cx="100584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$3,653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91760"/>
            <a:ext cx="137160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Hawaii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5217160"/>
            <a:ext cx="2711794" cy="264160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9194" y="5191760"/>
            <a:ext cx="100584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$3,713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57520"/>
            <a:ext cx="137160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North Dakota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5582920"/>
            <a:ext cx="2726401" cy="26416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3801" y="5557520"/>
            <a:ext cx="100584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$3,733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23280"/>
            <a:ext cx="137160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Pennsylvania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5948680"/>
            <a:ext cx="2743200" cy="264160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923280"/>
            <a:ext cx="1005840" cy="314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$3,756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1188720"/>
            <a:ext cx="5669280" cy="32004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32588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USA HEAT-MAP (Power BI Map visual)</a:t>
            </a:r>
          </a:p>
        </p:txBody>
      </p:sp>
      <p:sp>
        <p:nvSpPr>
          <p:cNvPr id="44" name="Oval 43"/>
          <p:cNvSpPr/>
          <p:nvPr/>
        </p:nvSpPr>
        <p:spPr>
          <a:xfrm>
            <a:off x="9117306" y="2370067"/>
            <a:ext cx="254848" cy="254848"/>
          </a:xfrm>
          <a:prstGeom prst="ellipse">
            <a:avLst/>
          </a:prstGeom>
          <a:solidFill>
            <a:srgbClr val="4F8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96104" y="2132170"/>
            <a:ext cx="248188" cy="248188"/>
          </a:xfrm>
          <a:prstGeom prst="ellipse">
            <a:avLst/>
          </a:prstGeom>
          <a:solidFill>
            <a:srgbClr val="508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57479" y="2637869"/>
            <a:ext cx="173163" cy="173163"/>
          </a:xfrm>
          <a:prstGeom prst="ellipse">
            <a:avLst/>
          </a:prstGeom>
          <a:solidFill>
            <a:srgbClr val="7EA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86789" y="2746773"/>
            <a:ext cx="185328" cy="185328"/>
          </a:xfrm>
          <a:prstGeom prst="ellipse">
            <a:avLst/>
          </a:prstGeom>
          <a:solidFill>
            <a:srgbClr val="7C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44169" y="2256623"/>
            <a:ext cx="381179" cy="381179"/>
          </a:xfrm>
          <a:prstGeom prst="ellipse">
            <a:avLst/>
          </a:prstGeom>
          <a:solidFill>
            <a:srgbClr val="95A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91332" y="1996828"/>
            <a:ext cx="296517" cy="296517"/>
          </a:xfrm>
          <a:prstGeom prst="ellipse">
            <a:avLst/>
          </a:prstGeom>
          <a:solidFill>
            <a:srgbClr val="799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55368" y="1932741"/>
            <a:ext cx="291845" cy="291845"/>
          </a:xfrm>
          <a:prstGeom prst="ellipse">
            <a:avLst/>
          </a:prstGeom>
          <a:solidFill>
            <a:srgbClr val="598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16793" y="2342409"/>
            <a:ext cx="288192" cy="288192"/>
          </a:xfrm>
          <a:prstGeom prst="ellipse">
            <a:avLst/>
          </a:prstGeom>
          <a:solidFill>
            <a:srgbClr val="8EA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00578" y="2495381"/>
            <a:ext cx="188150" cy="188150"/>
          </a:xfrm>
          <a:prstGeom prst="ellipse">
            <a:avLst/>
          </a:prstGeom>
          <a:solidFill>
            <a:srgbClr val="8EA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76776" y="3299308"/>
            <a:ext cx="186864" cy="186864"/>
          </a:xfrm>
          <a:prstGeom prst="ellipse">
            <a:avLst/>
          </a:prstGeom>
          <a:solidFill>
            <a:srgbClr val="9F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35064" y="1987345"/>
            <a:ext cx="306097" cy="306097"/>
          </a:xfrm>
          <a:prstGeom prst="ellipse">
            <a:avLst/>
          </a:prstGeom>
          <a:solidFill>
            <a:srgbClr val="85A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61192" y="3530812"/>
            <a:ext cx="342266" cy="342266"/>
          </a:xfrm>
          <a:prstGeom prst="ellipse">
            <a:avLst/>
          </a:prstGeom>
          <a:solidFill>
            <a:srgbClr val="81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02386" y="3253946"/>
            <a:ext cx="233118" cy="233118"/>
          </a:xfrm>
          <a:prstGeom prst="ellipse">
            <a:avLst/>
          </a:prstGeom>
          <a:solidFill>
            <a:srgbClr val="A9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48429" y="2080684"/>
            <a:ext cx="295905" cy="295905"/>
          </a:xfrm>
          <a:prstGeom prst="ellipse">
            <a:avLst/>
          </a:prstGeom>
          <a:solidFill>
            <a:srgbClr val="89A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82082" y="3619907"/>
            <a:ext cx="230414" cy="230414"/>
          </a:xfrm>
          <a:prstGeom prst="ellipse">
            <a:avLst/>
          </a:prstGeom>
          <a:solidFill>
            <a:srgbClr val="BF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91207" y="3884561"/>
            <a:ext cx="260174" cy="260174"/>
          </a:xfrm>
          <a:prstGeom prst="ellipse">
            <a:avLst/>
          </a:prstGeom>
          <a:solidFill>
            <a:srgbClr val="A4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75738" y="3788219"/>
            <a:ext cx="260992" cy="260992"/>
          </a:xfrm>
          <a:prstGeom prst="ellipse">
            <a:avLst/>
          </a:prstGeom>
          <a:solidFill>
            <a:srgbClr val="BDC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051927" y="4078099"/>
            <a:ext cx="295585" cy="295585"/>
          </a:xfrm>
          <a:prstGeom prst="ellipse">
            <a:avLst/>
          </a:prstGeom>
          <a:solidFill>
            <a:srgbClr val="B3B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032704" y="3163936"/>
            <a:ext cx="323536" cy="323536"/>
          </a:xfrm>
          <a:prstGeom prst="ellipse">
            <a:avLst/>
          </a:prstGeom>
          <a:solidFill>
            <a:srgbClr val="91A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65313" y="3650823"/>
            <a:ext cx="180311" cy="180311"/>
          </a:xfrm>
          <a:prstGeom prst="ellipse">
            <a:avLst/>
          </a:prstGeom>
          <a:solidFill>
            <a:srgbClr val="558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65214" y="3725872"/>
            <a:ext cx="323935" cy="323935"/>
          </a:xfrm>
          <a:prstGeom prst="ellipse">
            <a:avLst/>
          </a:prstGeom>
          <a:solidFill>
            <a:srgbClr val="518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997974" y="3606512"/>
            <a:ext cx="229650" cy="229650"/>
          </a:xfrm>
          <a:prstGeom prst="ellipse">
            <a:avLst/>
          </a:prstGeom>
          <a:solidFill>
            <a:srgbClr val="789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311691" y="1831995"/>
            <a:ext cx="379624" cy="379624"/>
          </a:xfrm>
          <a:prstGeom prst="ellipse">
            <a:avLst/>
          </a:prstGeom>
          <a:solidFill>
            <a:srgbClr val="74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83070" y="3808058"/>
            <a:ext cx="178068" cy="178068"/>
          </a:xfrm>
          <a:prstGeom prst="ellipse">
            <a:avLst/>
          </a:prstGeom>
          <a:solidFill>
            <a:srgbClr val="A6B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85784" y="2775931"/>
            <a:ext cx="255551" cy="255551"/>
          </a:xfrm>
          <a:prstGeom prst="ellipse">
            <a:avLst/>
          </a:prstGeom>
          <a:solidFill>
            <a:srgbClr val="B8B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565800" y="2075342"/>
            <a:ext cx="202623" cy="202623"/>
          </a:xfrm>
          <a:prstGeom prst="ellipse">
            <a:avLst/>
          </a:prstGeom>
          <a:solidFill>
            <a:srgbClr val="7AA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31483" y="2311669"/>
            <a:ext cx="351879" cy="351879"/>
          </a:xfrm>
          <a:prstGeom prst="ellipse">
            <a:avLst/>
          </a:prstGeom>
          <a:solidFill>
            <a:srgbClr val="B1B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736365" y="3479239"/>
            <a:ext cx="390098" cy="390098"/>
          </a:xfrm>
          <a:prstGeom prst="ellipse">
            <a:avLst/>
          </a:prstGeom>
          <a:solidFill>
            <a:srgbClr val="9BB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592172" y="2705201"/>
            <a:ext cx="199092" cy="199092"/>
          </a:xfrm>
          <a:prstGeom prst="ellipse">
            <a:avLst/>
          </a:prstGeom>
          <a:solidFill>
            <a:srgbClr val="5F9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46595" y="2716042"/>
            <a:ext cx="167349" cy="167349"/>
          </a:xfrm>
          <a:prstGeom prst="ellipse">
            <a:avLst/>
          </a:prstGeom>
          <a:solidFill>
            <a:srgbClr val="ADB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930402" y="2839399"/>
            <a:ext cx="229041" cy="229041"/>
          </a:xfrm>
          <a:prstGeom prst="ellipse">
            <a:avLst/>
          </a:prstGeom>
          <a:solidFill>
            <a:srgbClr val="5B9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885274" y="3286121"/>
            <a:ext cx="303995" cy="303995"/>
          </a:xfrm>
          <a:prstGeom prst="ellipse">
            <a:avLst/>
          </a:prstGeom>
          <a:solidFill>
            <a:srgbClr val="7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453499" y="3899487"/>
            <a:ext cx="381813" cy="381813"/>
          </a:xfrm>
          <a:prstGeom prst="ellipse">
            <a:avLst/>
          </a:prstGeom>
          <a:solidFill>
            <a:srgbClr val="98A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853725" y="3652662"/>
            <a:ext cx="370225" cy="370225"/>
          </a:xfrm>
          <a:prstGeom prst="ellipse">
            <a:avLst/>
          </a:prstGeom>
          <a:solidFill>
            <a:srgbClr val="A7B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092311" y="3383116"/>
            <a:ext cx="255590" cy="255590"/>
          </a:xfrm>
          <a:prstGeom prst="ellipse">
            <a:avLst/>
          </a:prstGeom>
          <a:solidFill>
            <a:srgbClr val="799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440106" y="3416938"/>
            <a:ext cx="178821" cy="178821"/>
          </a:xfrm>
          <a:prstGeom prst="ellipse">
            <a:avLst/>
          </a:prstGeom>
          <a:solidFill>
            <a:srgbClr val="528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52032" y="3585483"/>
            <a:ext cx="201694" cy="201694"/>
          </a:xfrm>
          <a:prstGeom prst="ellipse">
            <a:avLst/>
          </a:prstGeom>
          <a:solidFill>
            <a:srgbClr val="72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841836" y="2166771"/>
            <a:ext cx="164645" cy="164645"/>
          </a:xfrm>
          <a:prstGeom prst="ellipse">
            <a:avLst/>
          </a:prstGeom>
          <a:solidFill>
            <a:srgbClr val="5C9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251944" y="3262450"/>
            <a:ext cx="304892" cy="304892"/>
          </a:xfrm>
          <a:prstGeom prst="ellipse">
            <a:avLst/>
          </a:prstGeom>
          <a:solidFill>
            <a:srgbClr val="528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145233" y="3315380"/>
            <a:ext cx="198550" cy="198550"/>
          </a:xfrm>
          <a:prstGeom prst="ellipse">
            <a:avLst/>
          </a:prstGeom>
          <a:solidFill>
            <a:srgbClr val="689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14914" y="3264772"/>
            <a:ext cx="272983" cy="272983"/>
          </a:xfrm>
          <a:prstGeom prst="ellipse">
            <a:avLst/>
          </a:prstGeom>
          <a:solidFill>
            <a:srgbClr val="578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495011" y="3691861"/>
            <a:ext cx="274410" cy="274410"/>
          </a:xfrm>
          <a:prstGeom prst="ellipse">
            <a:avLst/>
          </a:prstGeom>
          <a:solidFill>
            <a:srgbClr val="6F9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609745" y="2165965"/>
            <a:ext cx="335967" cy="335967"/>
          </a:xfrm>
          <a:prstGeom prst="ellipse">
            <a:avLst/>
          </a:prstGeom>
          <a:solidFill>
            <a:srgbClr val="A2B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415771" y="2414482"/>
            <a:ext cx="282626" cy="282626"/>
          </a:xfrm>
          <a:prstGeom prst="ellipse">
            <a:avLst/>
          </a:prstGeom>
          <a:solidFill>
            <a:srgbClr val="629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32144" y="3254659"/>
            <a:ext cx="198105" cy="198105"/>
          </a:xfrm>
          <a:prstGeom prst="ellipse">
            <a:avLst/>
          </a:prstGeom>
          <a:solidFill>
            <a:srgbClr val="8B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63640" y="402336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CFD4E8"/>
                </a:solidFill>
                <a:latin typeface="Calibri"/>
              </a:rPr>
              <a:t>Bubble size &amp; colour proportional to state revenue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0" y="4526280"/>
            <a:ext cx="5669280" cy="1783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4617720"/>
            <a:ext cx="5303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REGIONAL STRATEGY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55080" y="498348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37960" y="498348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Top 5 states deliver concentrated revenue — defend and expand share.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55080" y="539496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37960" y="539496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Bottom 5 states skew young and digital — test online-only acquisition.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55080" y="580644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37960" y="58064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Roll out region-specific seasonality (Fall Outerwear in MT/ID, Spring in CA/IL).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Payment Method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Channel mix and digital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24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8580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Transactions by Payment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848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PayPal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833880"/>
            <a:ext cx="3840480" cy="59944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80848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952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Credit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534920"/>
            <a:ext cx="3806443" cy="59944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6723" y="250952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1056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Cash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235960"/>
            <a:ext cx="3800770" cy="599440"/>
          </a:xfrm>
          <a:prstGeom prst="round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1050" y="321056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1160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Debit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3937000"/>
            <a:ext cx="3607895" cy="599440"/>
          </a:xfrm>
          <a:prstGeom prst="round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8175" y="391160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264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Venmo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638040"/>
            <a:ext cx="3596549" cy="59944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6829" y="461264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13680"/>
            <a:ext cx="155448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Bank Transfer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5339080"/>
            <a:ext cx="3471748" cy="599440"/>
          </a:xfrm>
          <a:prstGeom prst="round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2028" y="5313680"/>
            <a:ext cx="1005840" cy="650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612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188720"/>
            <a:ext cx="4297680" cy="27432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Digital vs Cash</a:t>
            </a:r>
          </a:p>
        </p:txBody>
      </p:sp>
      <p:sp>
        <p:nvSpPr>
          <p:cNvPr id="31" name="Pie 30"/>
          <p:cNvSpPr/>
          <p:nvPr/>
        </p:nvSpPr>
        <p:spPr>
          <a:xfrm>
            <a:off x="7909560" y="1828800"/>
            <a:ext cx="1554480" cy="1554480"/>
          </a:xfrm>
          <a:prstGeom prst="pie">
            <a:avLst>
              <a:gd name="adj1" fmla="val -9000000"/>
              <a:gd name="adj2" fmla="val 20880000"/>
            </a:avLst>
          </a:prstGeom>
          <a:solidFill>
            <a:srgbClr val="1F4E9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ie 31"/>
          <p:cNvSpPr/>
          <p:nvPr/>
        </p:nvSpPr>
        <p:spPr>
          <a:xfrm>
            <a:off x="7909560" y="1828800"/>
            <a:ext cx="1554480" cy="1554480"/>
          </a:xfrm>
          <a:prstGeom prst="pie">
            <a:avLst>
              <a:gd name="adj1" fmla="val 20880000"/>
              <a:gd name="adj2" fmla="val 27000000"/>
            </a:avLst>
          </a:prstGeom>
          <a:solidFill>
            <a:srgbClr val="E0B34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59318" y="2178558"/>
            <a:ext cx="854964" cy="8549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46888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194560"/>
            <a:ext cx="1554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Digital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560320"/>
            <a:ext cx="1554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Cash 17%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4023360"/>
            <a:ext cx="4297680" cy="2286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411480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BUSINESS RECOMMENDATION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526280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52628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Push wallet adoption (PayPal/Venmo) — lowest tx fee.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910328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910328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Cards still 33% — negotiate interchange tier.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294376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5294376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Cash 17% — phase out for online channel.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678424"/>
            <a:ext cx="137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678424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Subscription auto-pay reduces failed-payment churn.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Subscription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Loyalty as recurring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25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Subscription penetration</a:t>
            </a:r>
          </a:p>
        </p:txBody>
      </p:sp>
      <p:sp>
        <p:nvSpPr>
          <p:cNvPr id="11" name="Pie 10"/>
          <p:cNvSpPr/>
          <p:nvPr/>
        </p:nvSpPr>
        <p:spPr>
          <a:xfrm>
            <a:off x="1645920" y="2286000"/>
            <a:ext cx="3108960" cy="3108960"/>
          </a:xfrm>
          <a:prstGeom prst="pie">
            <a:avLst>
              <a:gd name="adj1" fmla="val -9000000"/>
              <a:gd name="adj2" fmla="val 720000"/>
            </a:avLst>
          </a:prstGeom>
          <a:solidFill>
            <a:srgbClr val="5B2A8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1645920" y="2286000"/>
            <a:ext cx="3108960" cy="3108960"/>
          </a:xfrm>
          <a:prstGeom prst="pie">
            <a:avLst>
              <a:gd name="adj1" fmla="val 720000"/>
              <a:gd name="adj2" fmla="val 27000000"/>
            </a:avLst>
          </a:prstGeom>
          <a:solidFill>
            <a:srgbClr val="F2F2F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5436" y="2985516"/>
            <a:ext cx="1709928" cy="1709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0332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800" b="1">
                <a:solidFill>
                  <a:srgbClr val="5B2A86"/>
                </a:solidFill>
                <a:latin typeface="Calibri"/>
              </a:rPr>
              <a:t>27%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555566"/>
                </a:solidFill>
                <a:latin typeface="Calibri"/>
              </a:rPr>
              <a:t>of customer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Subscribers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1,053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574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27% of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188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188720"/>
            <a:ext cx="2743200" cy="109728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Non-subscribers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2,847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0574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73% of 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60604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606040"/>
            <a:ext cx="2743200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80720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Sub Avg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0896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$62.40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7472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+4.4% vs non-sub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60604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2606040"/>
            <a:ext cx="27432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80720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Sub Repeat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10896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3.2x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47472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vs 1.4x non-sub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069080"/>
            <a:ext cx="5669280" cy="22402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16052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LOYALTY PLAYBOOK</a:t>
            </a:r>
          </a:p>
        </p:txBody>
      </p:sp>
      <p:sp>
        <p:nvSpPr>
          <p:cNvPr id="38" name="Oval 37"/>
          <p:cNvSpPr/>
          <p:nvPr/>
        </p:nvSpPr>
        <p:spPr>
          <a:xfrm>
            <a:off x="6355080" y="461772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52628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Lift subscription % from 27% → 35% within 12 months.</a:t>
            </a:r>
          </a:p>
        </p:txBody>
      </p:sp>
      <p:sp>
        <p:nvSpPr>
          <p:cNvPr id="40" name="Oval 39"/>
          <p:cNvSpPr/>
          <p:nvPr/>
        </p:nvSpPr>
        <p:spPr>
          <a:xfrm>
            <a:off x="6355080" y="502920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93776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Tiered loyalty: Silver (free), Gold (paid), Platinum (premium).</a:t>
            </a:r>
          </a:p>
        </p:txBody>
      </p:sp>
      <p:sp>
        <p:nvSpPr>
          <p:cNvPr id="42" name="Oval 41"/>
          <p:cNvSpPr/>
          <p:nvPr/>
        </p:nvSpPr>
        <p:spPr>
          <a:xfrm>
            <a:off x="6355080" y="544068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3492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Subscribers spend 4% more per ticket and re-purchase 2.3x more often.</a:t>
            </a:r>
          </a:p>
        </p:txBody>
      </p:sp>
      <p:sp>
        <p:nvSpPr>
          <p:cNvPr id="44" name="Oval 43"/>
          <p:cNvSpPr/>
          <p:nvPr/>
        </p:nvSpPr>
        <p:spPr>
          <a:xfrm>
            <a:off x="6355080" y="5852160"/>
            <a:ext cx="109728" cy="109728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76072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Auto-renew + member-only sales to defend against churn.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Revenue per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Customer Lifetime Value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26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2743200" cy="10972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Avg Revenue /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$59.76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Across full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Sub Rev /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$199.68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Subs spend 3.3x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CLV (3yr est)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At current cadence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1887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188720"/>
            <a:ext cx="2743200" cy="109728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389888"/>
            <a:ext cx="24688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55566"/>
                </a:solidFill>
                <a:latin typeface="Calibri"/>
              </a:rPr>
              <a:t>Top-decile CLV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691640"/>
            <a:ext cx="24688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B1F4E"/>
                </a:solidFill>
                <a:latin typeface="Calibri"/>
              </a:rPr>
              <a:t>$420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14884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7B4FC4"/>
                </a:solidFill>
                <a:latin typeface="Calibri"/>
              </a:rPr>
              <a:t>High-value cluster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43200"/>
            <a:ext cx="68580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834640"/>
            <a:ext cx="6400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Revenue per Customer by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317240"/>
            <a:ext cx="21031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Value Seekers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3342640"/>
            <a:ext cx="2503518" cy="69088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2438" y="331724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$52.4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09720"/>
            <a:ext cx="21031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Occasional Buyers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4135120"/>
            <a:ext cx="2154745" cy="690880"/>
          </a:xfrm>
          <a:prstGeom prst="round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43665" y="410972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$45.1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02200"/>
            <a:ext cx="21031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Loyal Premium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927600"/>
            <a:ext cx="3291840" cy="6908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90220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$68.9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Premium cluster delivers ~1.5x the average revenue per customer — and the bulk of profit.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2743200"/>
            <a:ext cx="4297680" cy="35661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283464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E0B34E"/>
                </a:solidFill>
                <a:latin typeface="Calibri"/>
              </a:rPr>
              <a:t>BUSINESS MEANING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3200400"/>
            <a:ext cx="3931920" cy="2194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Average ticket is the wrong KPI for retention.
CLV — combining frequency, ticket and lifetime — is the lens that prioritises retention over acquisition.
Doubling sub penetration grows CLV by ~25% without acquiring a new customer.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5623560"/>
            <a:ext cx="3931920" cy="54864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5623560"/>
            <a:ext cx="3931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B1F4E"/>
                </a:solidFill>
                <a:latin typeface="Calibri"/>
              </a:rPr>
              <a:t>Make CLV the north-star KPI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Customer Segmentation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Three-cluster output — Power BI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07008"/>
            <a:ext cx="73152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Customer Segments · Cluster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36118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09728" cy="11887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F4E9C"/>
                </a:solidFill>
                <a:latin typeface="Calibri"/>
              </a:rPr>
              <a:t>CLUSTER 0 · Value Seekers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B1F4E"/>
                </a:solidFill>
                <a:latin typeface="Calibri"/>
              </a:rPr>
              <a:t>1,546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060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$52.4 avg · 39.6% of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828800"/>
            <a:ext cx="36118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828800"/>
            <a:ext cx="109728" cy="118872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92024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55566"/>
                </a:solidFill>
                <a:latin typeface="Calibri"/>
              </a:rPr>
              <a:t>CLUSTER 1 · Occasional 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B1F4E"/>
                </a:solidFill>
                <a:latin typeface="Calibri"/>
              </a:rPr>
              <a:t>685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6060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$45.1 avg · 17.6% of 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6118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109728" cy="11887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383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B2A86"/>
                </a:solidFill>
                <a:latin typeface="Calibri"/>
              </a:rPr>
              <a:t>CLUSTER 2 · Loyal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9456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B1F4E"/>
                </a:solidFill>
                <a:latin typeface="Calibri"/>
              </a:rPr>
              <a:t>1,669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0604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$68.9 avg · 42.8% of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154680"/>
            <a:ext cx="54864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4612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Avg purchase by 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7280"/>
            <a:ext cx="16459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Value Seekers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3662680"/>
            <a:ext cx="1877638" cy="690880"/>
          </a:xfrm>
          <a:prstGeom prst="round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6518" y="363728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$52.4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29760"/>
            <a:ext cx="16459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Occasional Buyers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4455160"/>
            <a:ext cx="1616059" cy="690880"/>
          </a:xfrm>
          <a:prstGeom prst="round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4939" y="442976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$45.1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22240"/>
            <a:ext cx="164592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Loyal Premium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23160" y="5247640"/>
            <a:ext cx="2468880" cy="690880"/>
          </a:xfrm>
          <a:prstGeom prst="round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5222240"/>
            <a:ext cx="1005840" cy="741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$68.9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154680"/>
            <a:ext cx="54864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24612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Cluster scatter · Age × Avg Purchase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5989320"/>
            <a:ext cx="4937760" cy="1270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3611880"/>
            <a:ext cx="12700" cy="237744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08761" y="4342158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34889" y="447452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79161" y="440800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89017" y="423508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11074" y="459037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53325" y="4327819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86912" y="425228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25424" y="443901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79437" y="444117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32667" y="456741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81077" y="437667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56836" y="440750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31197" y="429538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63614" y="436708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49142" y="429399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253564" y="442373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38299" y="439795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34464" y="436648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85350" y="440548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91811" y="459489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572866" y="429982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27995" y="4343258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83297" y="454776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813207" y="451892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82272" y="447333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47729" y="439791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22878" y="448773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935980" y="441667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10594" y="430551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94010" y="451420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870784" y="432870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17416" y="445428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810672" y="432279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33985" y="436729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05530" y="4487179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367902" y="445717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20846" y="417371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929837" y="4241761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873462" y="429447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705876" y="4283623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54600" y="444694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458380" y="410701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723183" y="425398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900710" y="456702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340768" y="413439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04069" y="428645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689951" y="452964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622526" y="434268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968974" y="429287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70935" y="4196955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439500" y="4280447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967954" y="4441654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48905" y="4532930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721020" y="4319832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090982" y="4547473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654719" y="4301858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09647" y="4750378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881693" y="405468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937516" y="4534586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37783" y="4365303"/>
            <a:ext cx="91440" cy="9144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414538" y="4514551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744301" y="4374861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689181" y="4329710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518954" y="4676842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915633" y="4394644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896742" y="4561476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198247" y="4712213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539938" y="4685579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877702" y="4656094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934483" y="4594056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618330" y="4588733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833211" y="4478780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577503" y="4640866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327477" y="4367977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21865" y="4632862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577255" y="4789930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760173" y="4575637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327825" y="4569686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492752" y="4969538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109901" y="4578149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258159" y="4579488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258360" y="4089138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027951" y="4521228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662830" y="4924232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676570" y="4837285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880462" y="4924105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456114" y="4425074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176060" y="4781802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279415" y="4475621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952937" y="4752882"/>
            <a:ext cx="91440" cy="91440"/>
          </a:xfrm>
          <a:prstGeom prst="ellipse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292267" y="3996172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152562" y="399413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841074" y="379058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068453" y="390588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449972" y="403903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453235" y="408817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986663" y="378949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894506" y="376870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864120" y="385556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285514" y="388022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382627" y="405821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10620" y="411338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486609" y="387066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354261" y="368072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538673" y="380645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832005" y="401491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932371" y="378126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293916" y="3698259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583417" y="374347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3645" y="4202209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691103" y="3993076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274826" y="395771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4908" y="3761646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73505" y="413967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321533" y="424602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459386" y="380388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272600" y="385668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553445" y="374333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256404" y="4016239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272803" y="363264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795890" y="3911426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551826" y="387606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545452" y="3924059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393876" y="407977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307069" y="364782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639562" y="3883436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427554" y="388374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587867" y="398903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543568" y="385739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276944" y="401029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06295" y="4051059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739254" y="424375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412895" y="398386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313281" y="3878555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806423" y="3881702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448597" y="398405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451781" y="375753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376984" y="406341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131481" y="4057504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095990" y="372975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588385" y="3928328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899984" y="3990808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700636" y="3774042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0051873" y="4124407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226464" y="3758326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853872" y="4075462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0784022" y="3949972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377148" y="3974950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396749" y="4163243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205658" y="4076661"/>
            <a:ext cx="91440" cy="91440"/>
          </a:xfrm>
          <a:prstGeom prst="ellips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058400" y="3695700"/>
            <a:ext cx="164592" cy="164592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287000" y="3657600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C0</a:t>
            </a:r>
          </a:p>
        </p:txBody>
      </p:sp>
      <p:sp>
        <p:nvSpPr>
          <p:cNvPr id="194" name="Oval 193"/>
          <p:cNvSpPr/>
          <p:nvPr/>
        </p:nvSpPr>
        <p:spPr>
          <a:xfrm>
            <a:off x="10058400" y="3951732"/>
            <a:ext cx="164592" cy="164592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287000" y="3913632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C1</a:t>
            </a:r>
          </a:p>
        </p:txBody>
      </p:sp>
      <p:sp>
        <p:nvSpPr>
          <p:cNvPr id="196" name="Oval 195"/>
          <p:cNvSpPr/>
          <p:nvPr/>
        </p:nvSpPr>
        <p:spPr>
          <a:xfrm>
            <a:off x="10058400" y="4207764"/>
            <a:ext cx="164592" cy="164592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287000" y="4169664"/>
            <a:ext cx="2286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B1F4E"/>
                </a:solidFill>
                <a:latin typeface="Calibri"/>
              </a:rPr>
              <a:t>C2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Cluster 0 — Value Seekers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Younger, frequent discount-driven shoppers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28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657600" cy="51206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CLUSTER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Value Seekers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FD4E8"/>
                </a:solidFill>
                <a:latin typeface="Calibri"/>
              </a:rPr>
              <a:t>1,546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383280" cy="36576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1752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$52.40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2900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30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Prev Purchases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4048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5196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3.56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Share of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6344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39.6%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280160"/>
            <a:ext cx="75895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Characteristics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Cluster 0 — Value Seekers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Younger, frequent discount-driven shoppers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28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657600" cy="51206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CLUSTER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Value Seekers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FD4E8"/>
                </a:solidFill>
                <a:latin typeface="Calibri"/>
              </a:rPr>
              <a:t>1,546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383280" cy="36576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1752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$52.40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2900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30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Prev Purchases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4048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5196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3.56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Share of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6344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39.6%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280160"/>
            <a:ext cx="75895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Characteristics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691640"/>
            <a:ext cx="109728" cy="411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70992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Younger demographic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93852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Avg age 30 — millennial / Gen-Z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194560"/>
            <a:ext cx="109728" cy="411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21284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Promotion-driven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44144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Highest discount-applied share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697480"/>
            <a:ext cx="109728" cy="411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71576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Mid-frequency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4436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~23 prior purchases on average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200400"/>
            <a:ext cx="109728" cy="411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21868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Mid satisfaction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44728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Rating 3.6 — improvement runway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069080"/>
            <a:ext cx="7589520" cy="10058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160520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B2A86"/>
                </a:solidFill>
                <a:latin typeface="Calibri"/>
              </a:rPr>
              <a:t>PURCHASE BEHAVIOUR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434840"/>
            <a:ext cx="7315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High volume but discount-anchored. Responds to flash sales, social-led campaigns, BNPL options. Risk: margin erosion if promotions widen.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5166360"/>
            <a:ext cx="7589520" cy="11430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25780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MARKETING CAMPAIGN &amp; 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532120"/>
            <a:ext cx="73152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Targeted offer cadence — small, frequent, capped at 12% discount. Push subscription with first-purchase 20%-off lock-in. Cross-sell Accessories to Clothing buyers.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Cluster 1 — Occasional Buyers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Mid-age, low engagement, low-rating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29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657600" cy="512064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CLUSTER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Occasional 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FD4E8"/>
                </a:solidFill>
                <a:latin typeface="Calibri"/>
              </a:rPr>
              <a:t>685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383280" cy="36576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1752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$45.10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2900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45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Prev Purchases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4048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Avg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5196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2.00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FD4E8"/>
                </a:solidFill>
                <a:latin typeface="Calibri"/>
              </a:rPr>
              <a:t>Share of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63440"/>
            <a:ext cx="12801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280160"/>
            <a:ext cx="758952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B1F4E"/>
                </a:solidFill>
                <a:latin typeface="Calibri"/>
              </a:rPr>
              <a:t>Characteristics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691640"/>
            <a:ext cx="109728" cy="41148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70992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Mid-life cohort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93852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Avg age 45 — career mid-stage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194560"/>
            <a:ext cx="109728" cy="41148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21284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Lower 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44144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Lowest avg ticket ($45)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697480"/>
            <a:ext cx="109728" cy="41148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71576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Low 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4436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Average rating 2.0 — service issue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200400"/>
            <a:ext cx="109728" cy="41148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218688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B1F4E"/>
                </a:solidFill>
                <a:latin typeface="Calibri"/>
              </a:rPr>
              <a:t>Smallest segment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447288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17.6% of 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069080"/>
            <a:ext cx="7589520" cy="100584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4160520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B2A86"/>
                </a:solidFill>
                <a:latin typeface="Calibri"/>
              </a:rPr>
              <a:t>PURCHASE BEHAVIOUR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434840"/>
            <a:ext cx="7315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Disengaged: low spend, low satisfaction. Likely first-time / one-off shoppers with negative experience. Churn risk material.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5166360"/>
            <a:ext cx="7589520" cy="11430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25780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MARKETING CAMPAIGN &amp; RECOMMENDATION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532120"/>
            <a:ext cx="73152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Service recovery first: targeted survey + win-back voucher. Post-recovery, retarget with curated, fewer-but-better SKU edits. Test a 'no discount but free returns' creative.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Marketing Campaign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Cluster-aligned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31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VALUE SEEKERS
Cluster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377440"/>
            <a:ext cx="2560320" cy="36576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8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Discount Customers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63240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Targeted promo cadence (8-12% capped)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566160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Social-led + influencer creative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69080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7764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First-purchase 20%-off → subscription lock-in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572000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8056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Cross-sell: Accessories on Clothing carts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074920"/>
            <a:ext cx="109728" cy="1097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BNPL &amp; wallet payment 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28016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1280160"/>
            <a:ext cx="3657600" cy="1005840"/>
          </a:xfrm>
          <a:prstGeom prst="rect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1417320"/>
            <a:ext cx="36576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OCCASIONAL
Cluster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2377440"/>
            <a:ext cx="2560320" cy="36576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395728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Win-back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063240"/>
            <a:ext cx="109728" cy="109728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97180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Service-recovery survey + voucher</a:t>
            </a:r>
          </a:p>
        </p:txBody>
      </p:sp>
      <p:sp>
        <p:nvSpPr>
          <p:cNvPr id="31" name="Oval 30"/>
          <p:cNvSpPr/>
          <p:nvPr/>
        </p:nvSpPr>
        <p:spPr>
          <a:xfrm>
            <a:off x="4480560" y="3566160"/>
            <a:ext cx="109728" cy="109728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47472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Curated, fewer-but-better drops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4069080"/>
            <a:ext cx="109728" cy="109728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97764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Free returns over deeper discount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572000"/>
            <a:ext cx="109728" cy="109728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48056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Personalised email re-engagement</a:t>
            </a:r>
          </a:p>
        </p:txBody>
      </p:sp>
      <p:sp>
        <p:nvSpPr>
          <p:cNvPr id="37" name="Oval 36"/>
          <p:cNvSpPr/>
          <p:nvPr/>
        </p:nvSpPr>
        <p:spPr>
          <a:xfrm>
            <a:off x="4480560" y="5074920"/>
            <a:ext cx="109728" cy="109728"/>
          </a:xfrm>
          <a:prstGeom prst="ellipse">
            <a:avLst/>
          </a:prstGeom>
          <a:solidFill>
            <a:srgbClr val="55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498348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Pause acquisition spend until rated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28016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280160"/>
            <a:ext cx="3657600" cy="100584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1417320"/>
            <a:ext cx="365760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LOYAL PREMIUM
Cluster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2377440"/>
            <a:ext cx="2560320" cy="365760"/>
          </a:xfrm>
          <a:prstGeom prst="round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395728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B1F4E"/>
                </a:solidFill>
                <a:latin typeface="Calibri"/>
              </a:rPr>
              <a:t>Premium Customers</a:t>
            </a:r>
          </a:p>
        </p:txBody>
      </p:sp>
      <p:sp>
        <p:nvSpPr>
          <p:cNvPr id="44" name="Oval 43"/>
          <p:cNvSpPr/>
          <p:nvPr/>
        </p:nvSpPr>
        <p:spPr>
          <a:xfrm>
            <a:off x="8275320" y="3063240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297180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Platinum tier — concierge &amp; early access</a:t>
            </a:r>
          </a:p>
        </p:txBody>
      </p:sp>
      <p:sp>
        <p:nvSpPr>
          <p:cNvPr id="46" name="Oval 45"/>
          <p:cNvSpPr/>
          <p:nvPr/>
        </p:nvSpPr>
        <p:spPr>
          <a:xfrm>
            <a:off x="8275320" y="3566160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347472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Member-get-member referrals</a:t>
            </a:r>
          </a:p>
        </p:txBody>
      </p:sp>
      <p:sp>
        <p:nvSpPr>
          <p:cNvPr id="48" name="Oval 47"/>
          <p:cNvSpPr/>
          <p:nvPr/>
        </p:nvSpPr>
        <p:spPr>
          <a:xfrm>
            <a:off x="8275320" y="4069080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397764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Curated drops &amp; exclusive SKUs</a:t>
            </a:r>
          </a:p>
        </p:txBody>
      </p:sp>
      <p:sp>
        <p:nvSpPr>
          <p:cNvPr id="50" name="Oval 49"/>
          <p:cNvSpPr/>
          <p:nvPr/>
        </p:nvSpPr>
        <p:spPr>
          <a:xfrm>
            <a:off x="8275320" y="4572000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448056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Zero blanket discounting</a:t>
            </a:r>
          </a:p>
        </p:txBody>
      </p:sp>
      <p:sp>
        <p:nvSpPr>
          <p:cNvPr id="52" name="Oval 51"/>
          <p:cNvSpPr/>
          <p:nvPr/>
        </p:nvSpPr>
        <p:spPr>
          <a:xfrm>
            <a:off x="8275320" y="5074920"/>
            <a:ext cx="109728" cy="109728"/>
          </a:xfrm>
          <a:prstGeom prst="ellipse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4983480"/>
            <a:ext cx="315468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B1F4E"/>
                </a:solidFill>
                <a:latin typeface="Calibri"/>
              </a:rPr>
              <a:t>VIP event programme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E0B34E"/>
                </a:solidFill>
                <a:latin typeface="Calibri"/>
              </a:rPr>
              <a:t>Cross-sell  •  Upsell  •  Retention — three universal levers, applied with cluster-specific intensity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Six headline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32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 REVENUE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1F4E9C"/>
                </a:solidFill>
                <a:latin typeface="Calibri"/>
              </a:rPr>
              <a:t>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4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Clothing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45% of total revenue · $104K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657600" cy="45720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5331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 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E0B34E"/>
                </a:solidFill>
                <a:latin typeface="Calibri"/>
              </a:rPr>
              <a:t>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2024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Fall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25.7% of revenue · peak 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657600" cy="45720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35331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 AGE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14A0A0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92024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36-45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8892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Highest avg ticket $60.20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40"/>
            <a:ext cx="36576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2219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TOP 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38912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2E8B57"/>
                </a:solidFill>
                <a:latin typeface="Calibri"/>
              </a:rPr>
              <a:t>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38912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Montana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5780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$5,784 — leading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749040"/>
            <a:ext cx="3657600" cy="4572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82219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HIGHEST REVENUE CLUSTER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38912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5B2A86"/>
                </a:solidFill>
                <a:latin typeface="Calibri"/>
              </a:rPr>
              <a:t>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8912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Loyal Premium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25780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42.8% of base · $68.9 ticket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3749040"/>
            <a:ext cx="3657600" cy="457200"/>
          </a:xfrm>
          <a:prstGeom prst="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3822192"/>
            <a:ext cx="33832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LOWEST REVENUE CATEGORY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389120"/>
            <a:ext cx="5486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E56B6F"/>
                </a:solidFill>
                <a:latin typeface="Calibri"/>
              </a:rPr>
              <a:t>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389120"/>
            <a:ext cx="265176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>
                <a:solidFill>
                  <a:srgbClr val="0B1F4E"/>
                </a:solidFill>
                <a:latin typeface="Calibri"/>
              </a:rPr>
              <a:t>Outerwear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257800"/>
            <a:ext cx="338328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8% share · $18.5K — re-rationalise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Eight commercial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33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640080" cy="11887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98448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645920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Cap discounts at 12% on Clothing/Accessories, 8% on Footwear. Test +5% on premium SKUs.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640080" cy="11887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88720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298448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Tilt 50%+ allocation to Clothing &amp; Accessories. Rationalise Outerwear SKUs by 15-20%.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87168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640080" cy="118872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87168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596896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Promotions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944368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Cluster-targeted offers — full-price for Loyal Premium, structured promos for Value Seekers.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487168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487168"/>
            <a:ext cx="640080" cy="118872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487168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596896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Customer 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944368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Auto-renew subscriptions, member-only sales, win-back vouchers for at-risk cluster.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85616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85616"/>
            <a:ext cx="640080" cy="1188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85616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895344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Regional Campaigns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242816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Region-specific seasonality. Defend top 5 states; digital-only test in bottom 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85616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785616"/>
            <a:ext cx="640080" cy="118872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785616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895344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Loyalty Programs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242816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Tiered Silver / Gold / Platinum. Lift sub penetration 27% → 35% in 12 months.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84064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84064"/>
            <a:ext cx="640080" cy="1188720"/>
          </a:xfrm>
          <a:prstGeom prst="rect">
            <a:avLst/>
          </a:prstGeom>
          <a:solidFill>
            <a:srgbClr val="E5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84064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193792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Subscription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541264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Anchor the funnel — first-purchase incentive locks in repeat revenue.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084064"/>
            <a:ext cx="5532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5084064"/>
            <a:ext cx="640080" cy="118872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5084064"/>
            <a:ext cx="640080" cy="11887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193792"/>
            <a:ext cx="4617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Cross-Selling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541264"/>
            <a:ext cx="4617720" cy="685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Accessories attached to Clothing carts; Outerwear bundled with seasonal launches.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Dashboard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Production-grade interactivity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34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13716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4520" y="164592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1F4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164592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1F4E9C"/>
                </a:solidFill>
                <a:latin typeface="Calibri"/>
              </a:rPr>
              <a:t>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Slicers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Year, Region, Season, Category, Cluster — cross-filtered.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3657600" cy="13716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164592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5B2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5B2A86"/>
                </a:solidFill>
                <a:latin typeface="Calibri"/>
              </a:rPr>
              <a:t>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Bookmarks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7180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Saved views: Executive read, Cluster deep-dive, What-if discount scenario.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657600" cy="1371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164592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14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64592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14A0A0"/>
                </a:solidFill>
                <a:latin typeface="Calibri"/>
              </a:rPr>
              <a:t>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Drill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7180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Region → State → City; Category → Item; Cluster → Customer detail.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40"/>
            <a:ext cx="3657600" cy="13716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74520" y="411480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E0B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20" y="411480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E0B34E"/>
                </a:solidFill>
                <a:latin typeface="Calibri"/>
              </a:rPr>
              <a:t>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Interactivity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8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Click-through cross-highlighting; tooltips with mini-charts.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749040"/>
            <a:ext cx="3657600" cy="13716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0" y="411480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7B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11480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7B4FC4"/>
                </a:solidFill>
                <a:latin typeface="Calibri"/>
              </a:rPr>
              <a:t>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0292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Responsive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44068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Desktop, tablet and phone layouts auto-resize.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3749040"/>
            <a:ext cx="3657600" cy="137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64040" y="4114800"/>
            <a:ext cx="822960" cy="822960"/>
          </a:xfrm>
          <a:prstGeom prst="ellipse">
            <a:avLst/>
          </a:prstGeom>
          <a:solidFill>
            <a:srgbClr val="F2F2F8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4114800"/>
            <a:ext cx="8229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800" b="0">
                <a:solidFill>
                  <a:srgbClr val="2E8B57"/>
                </a:solidFill>
                <a:latin typeface="Calibri"/>
              </a:rPr>
              <a:t>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0292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0B1F4E"/>
                </a:solidFill>
                <a:latin typeface="Calibri"/>
              </a:rPr>
              <a:t>Refresh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440680"/>
            <a:ext cx="329184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50" b="0">
                <a:solidFill>
                  <a:srgbClr val="555566"/>
                </a:solidFill>
                <a:latin typeface="Calibri"/>
              </a:rPr>
              <a:t>Daily incremental refresh; row-level security by region manager.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What was hard — and how we resolved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35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37160" cy="150876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618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Inconsistent encoding for Discount/Subscription flags; mixed types across Age/Previous_Purchases.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Standardised case, cast types, validated unique IDs.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137160" cy="150876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618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Model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Choosing the right number of clusters across competing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Combined Elbow + Silhouette; settled at K=3 for interpretability.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37160" cy="150876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620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Time-intelligence and ratio measures returning blanks on filtered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CALCULATE with explicit ALL/ALLSELECTED, defensive DIVIDE.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889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788920"/>
            <a:ext cx="137160" cy="150876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620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Many-to-many between Promotion and Transaction.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033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Bridge table on Promo_ID with single-direction filters.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37160" cy="150876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622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006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Scaling features with mixed cardinality.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StandardScaler on numerics, one-hot for categoricals before fit.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38912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4389120"/>
            <a:ext cx="137160" cy="1508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62272"/>
            <a:ext cx="5166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Dashboard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0060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Challenge: Balancing density and clarity for executive readers.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03520"/>
            <a:ext cx="516636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1">
                <a:solidFill>
                  <a:srgbClr val="0B1F4E"/>
                </a:solidFill>
                <a:latin typeface="Calibri"/>
              </a:rPr>
              <a:t>Resolution: Three-page design — Exec, Behaviour, Segments — with focused KPIs each.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Quantified business value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36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$233K
revenue analysed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Single source of truth for trading conversations.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3657600" cy="4114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REVENUE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7452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+8-10%
revenue lift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803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From cluster-targeted promotions and tier launch.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3657600" cy="4114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3258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CUSTOMER UNDERSTANDING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87452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3 clusters
+ behaviour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88036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Segments shipped to marketing, ops, and merch.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49040"/>
            <a:ext cx="3657600" cy="411480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947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MARKETING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34340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+18% ROAS
(simulated)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492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Same budget, three creatives, sharper targeting.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749040"/>
            <a:ext cx="3657600" cy="41148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947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DECISION MAKING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4340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Daily refresh
+ self-serve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492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Decisions move from anecdote to evidence.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7490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749040"/>
            <a:ext cx="365760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79476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34340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0B1F4E"/>
                </a:solidFill>
                <a:latin typeface="Calibri"/>
              </a:rPr>
              <a:t>Notebook + dashboard
+ playbook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349240"/>
            <a:ext cx="338328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Reusable artefacts, not one-off slides.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Roadmap to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37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777240" cy="713232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28016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35331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6420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Time-series demand model — ARIMA / Prophet — for category planning.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777240" cy="713232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05740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13055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Recommendation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44144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Item-to-item collaborative filtering for personalised home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83464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290779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RFM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1868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Recency-Frequency-Monetary scoring layered on top of clusters.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777240" cy="713232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1188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61188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368503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Deep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9592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Embedding-based clustering for higher-cardinality SKU behaviour.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777240" cy="713232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438912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446227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Real-time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77316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Stream from POS via DirectQuery — &lt;5 min latency.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66360"/>
            <a:ext cx="77724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60"/>
            <a:ext cx="777240" cy="7132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5166360"/>
            <a:ext cx="10424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239512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0B1F4E"/>
                </a:solidFill>
                <a:latin typeface="Calibri"/>
              </a:rPr>
              <a:t>Azure / Fabric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55040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Migrate to Microsoft Fabric Lakehouse — unified semantic layer.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Interview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Anticipated client / HR / technical questions with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38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914400" cy="6400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188720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23444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Why three clusters and not five?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517904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Elbow + silhouette both peak at K=3. Beyond three, segments overlap and lose actionable distinction.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914400" cy="6400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01952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1901952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1947672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How do you measure success?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231136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Revenue per customer up 8% in 6 months and subscription % up to 35%.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5184"/>
            <a:ext cx="914400" cy="640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15184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2615184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660904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What was your role?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944368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End-to-end: data prep, modelling, dashboard build, stakeholder presentation.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28416"/>
            <a:ext cx="914400" cy="64008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28416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3328416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374136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What would you do differently?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57600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Add cohort-over-cohort tracking earlier — would have surfaced churn signals sooner.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41648"/>
            <a:ext cx="914400" cy="6400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41648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4041648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4087368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Why KMeans over hierarchical?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370832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Scalable to large datasets, interpretable centroids, fast inference for new customers.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54880"/>
            <a:ext cx="914400" cy="6400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4754880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480060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How are categorical variables handled?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084064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One-hot encoded, then standardised before fitting alongside numerics.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68112"/>
            <a:ext cx="914400" cy="64008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68112"/>
            <a:ext cx="9144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5468112"/>
            <a:ext cx="10332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5513832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0B1F4E"/>
                </a:solidFill>
                <a:latin typeface="Calibri"/>
              </a:rPr>
              <a:t>Q: How do you validate the dashboard numbers?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797296"/>
            <a:ext cx="100584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A: SQL parity check: every DAX measure has a matching SQL query that must agree to the cent.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7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058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Project summary, business impact, learning, and the call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64592"/>
            <a:ext cx="914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E0B34E"/>
                </a:solidFill>
                <a:latin typeface="Calibri"/>
              </a:rPr>
              <a:t>39 /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32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5532120" cy="50292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507492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B1F4E"/>
                </a:solidFill>
                <a:latin typeface="Calibri"/>
              </a:rPr>
              <a:t>From 3,900 records, we built a pipeline (SQL → Python → Power BI) that quantifies the customer base, segments it into three actionable clusters, and translates each into a marketing playbook.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532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532120" cy="502920"/>
          </a:xfrm>
          <a:prstGeom prst="rect">
            <a:avLst/>
          </a:prstGeom>
          <a:solidFill>
            <a:srgbClr val="5B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20"/>
            <a:ext cx="507492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B1F4E"/>
                </a:solidFill>
                <a:latin typeface="Calibri"/>
              </a:rPr>
              <a:t>8-10% revenue uplift potential from cluster-targeted promotions; subscription lift 27%→35% drives recurring revenue; margin protected by 12% discount cap.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5532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5532120" cy="502920"/>
          </a:xfrm>
          <a:prstGeom prst="rect">
            <a:avLst/>
          </a:prstGeom>
          <a:solidFill>
            <a:srgbClr val="14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9120"/>
            <a:ext cx="507492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B1F4E"/>
                </a:solidFill>
                <a:latin typeface="Calibri"/>
              </a:rPr>
              <a:t>Bridging analytical depth with business storytelling. Best models matter less than the quality of the resulting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703320"/>
            <a:ext cx="5532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703320"/>
            <a:ext cx="5532120" cy="502920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516636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FINAL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89120"/>
            <a:ext cx="5074920" cy="1600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B1F4E"/>
                </a:solidFill>
                <a:latin typeface="Calibri"/>
              </a:rPr>
              <a:t>Adopt the three-cluster framework, cap discounts at 12%, launch tiered loyalty, and re-rationalise Outerwear SKUs.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E0B34E"/>
                </a:solidFill>
                <a:latin typeface="Calibri"/>
              </a:rPr>
              <a:t>From data → decisions → measurable revenue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Customer Segmentation &amp; Shopping Trends Analysis  |  Power BI · SQL · Python · 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463040" cy="256032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029200" cy="6858000"/>
          </a:xfrm>
          <a:prstGeom prst="rtTriangle">
            <a:avLst/>
          </a:prstGeom>
          <a:solidFill>
            <a:srgbClr val="5B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0"/>
            <a:ext cx="3200400" cy="6858000"/>
          </a:xfrm>
          <a:prstGeom prst="rtTriangle">
            <a:avLst/>
          </a:prstGeom>
          <a:solidFill>
            <a:srgbClr val="7B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4754880"/>
            <a:ext cx="1463040" cy="1463040"/>
          </a:xfrm>
          <a:prstGeom prst="ellipse">
            <a:avLst/>
          </a:prstGeom>
          <a:solidFill>
            <a:srgbClr val="9B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" y="457200"/>
            <a:ext cx="914400" cy="914400"/>
          </a:xfrm>
          <a:prstGeom prst="ellipse">
            <a:avLst/>
          </a:prstGeom>
          <a:solidFill>
            <a:srgbClr val="E0B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2194560"/>
            <a:ext cx="548640" cy="73152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331720"/>
            <a:ext cx="57607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0B34E"/>
                </a:solidFill>
                <a:latin typeface="Calibri"/>
              </a:rPr>
              <a:t>END OF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576072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114800"/>
            <a:ext cx="57607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0">
                <a:solidFill>
                  <a:srgbClr val="CFD4E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937760"/>
            <a:ext cx="5760720" cy="36576"/>
          </a:xfrm>
          <a:prstGeom prst="rect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5029200"/>
            <a:ext cx="5760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E0B34E"/>
                </a:solidFill>
                <a:latin typeface="Calibri"/>
              </a:rPr>
              <a:t>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349240"/>
            <a:ext cx="5760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Analytics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669280"/>
            <a:ext cx="5760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analytics@company.com  ·  +1 (000) 000-0000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989320"/>
            <a:ext cx="5760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FD4E8"/>
                </a:solidFill>
                <a:latin typeface="Calibri"/>
              </a:rPr>
              <a:t>linkedin.com/in/data-analytics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